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4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x="9144000" cy="5143500" type="screen16x9"/>
  <p:notesSz cx="6858000" cy="9144000"/>
  <p:embeddedFontLst>
    <p:embeddedFont>
      <p:font typeface="Work Sans" panose="020B0604020202020204" charset="0"/>
      <p:regular r:id="rId49"/>
      <p:bold r:id="rId50"/>
      <p:italic r:id="rId51"/>
      <p:boldItalic r:id="rId52"/>
    </p:embeddedFont>
    <p:embeddedFont>
      <p:font typeface="Open Sans" panose="020B060402020202020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h2RHqXGqS3HrEwkcr5HOiRQM2QR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8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font" Target="fonts/font6.fntdata"/><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61"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 name="Google Shape;3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 name="Google Shape;4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 name="Google Shape;41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8" name="Google Shape;43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2" name="Google Shape;45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3" name="Google Shape;463;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3" name="Google Shape;473;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4" name="Google Shape;484;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6" name="Google Shape;496;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8" name="Google Shape;508;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9" name="Google Shape;519;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0" name="Google Shape;530;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1" name="Google Shape;541;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2" name="Google Shape;552;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3" name="Google Shape;563;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7" name="Google Shape;577;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1" name="Google Shape;591;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2" name="Google Shape;602;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3" name="Google Shape;613;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4" name="Google Shape;62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1" name="Google Shape;641;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8"/>
        <p:cNvGrpSpPr/>
        <p:nvPr/>
      </p:nvGrpSpPr>
      <p:grpSpPr>
        <a:xfrm>
          <a:off x="0" y="0"/>
          <a:ext cx="0" cy="0"/>
          <a:chOff x="0" y="0"/>
          <a:chExt cx="0" cy="0"/>
        </a:xfrm>
      </p:grpSpPr>
      <p:pic>
        <p:nvPicPr>
          <p:cNvPr id="9" name="Google Shape;9;p36"/>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10" name="Google Shape;10;p36"/>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36"/>
          <p:cNvSpPr txBox="1">
            <a:spLocks noGrp="1"/>
          </p:cNvSpPr>
          <p:nvPr>
            <p:ph type="ctrTitle"/>
          </p:nvPr>
        </p:nvSpPr>
        <p:spPr>
          <a:xfrm>
            <a:off x="1048725" y="3058625"/>
            <a:ext cx="49140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Font typeface="Open Sans"/>
              <a:buNone/>
              <a:defRPr sz="3600">
                <a:latin typeface="Open Sans"/>
                <a:ea typeface="Open Sans"/>
                <a:cs typeface="Open Sans"/>
                <a:sym typeface="Open Sans"/>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 name="Google Shape;12;p36"/>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r>
              <a:rPr lang="en-MY" sz="1000" b="0" i="0" u="none" strike="noStrike" cap="none">
                <a:solidFill>
                  <a:srgbClr val="666666"/>
                </a:solidFill>
                <a:latin typeface="Open Sans"/>
                <a:ea typeface="Open Sans"/>
                <a:cs typeface="Open Sans"/>
                <a:sym typeface="Open Sans"/>
              </a:rPr>
              <a:t>teachcomputerscience.com</a:t>
            </a:r>
            <a:endParaRPr sz="1000" b="0" i="0" u="none" strike="noStrike" cap="none">
              <a:solidFill>
                <a:srgbClr val="666666"/>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3"/>
        <p:cNvGrpSpPr/>
        <p:nvPr/>
      </p:nvGrpSpPr>
      <p:grpSpPr>
        <a:xfrm>
          <a:off x="0" y="0"/>
          <a:ext cx="0" cy="0"/>
          <a:chOff x="0" y="0"/>
          <a:chExt cx="0" cy="0"/>
        </a:xfrm>
      </p:grpSpPr>
      <p:pic>
        <p:nvPicPr>
          <p:cNvPr id="14" name="Google Shape;14;p37"/>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15" name="Google Shape;15;p37"/>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7"/>
          <p:cNvSpPr txBox="1">
            <a:spLocks noGrp="1"/>
          </p:cNvSpPr>
          <p:nvPr>
            <p:ph type="body" idx="1"/>
          </p:nvPr>
        </p:nvSpPr>
        <p:spPr>
          <a:xfrm>
            <a:off x="869150" y="2312925"/>
            <a:ext cx="7405800" cy="20040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600"/>
              </a:spcBef>
              <a:spcAft>
                <a:spcPts val="0"/>
              </a:spcAft>
              <a:buSzPts val="2000"/>
              <a:buFont typeface="Open Sans"/>
              <a:buChar char="▪"/>
              <a:defRPr>
                <a:latin typeface="Open Sans"/>
                <a:ea typeface="Open Sans"/>
                <a:cs typeface="Open Sans"/>
                <a:sym typeface="Open Sans"/>
              </a:defRPr>
            </a:lvl1pPr>
            <a:lvl2pPr marL="914400" lvl="1" indent="-355600" algn="l">
              <a:lnSpc>
                <a:spcPct val="100000"/>
              </a:lnSpc>
              <a:spcBef>
                <a:spcPts val="0"/>
              </a:spcBef>
              <a:spcAft>
                <a:spcPts val="0"/>
              </a:spcAft>
              <a:buSzPts val="2000"/>
              <a:buFont typeface="Open Sans"/>
              <a:buChar char="□"/>
              <a:defRPr>
                <a:latin typeface="Open Sans"/>
                <a:ea typeface="Open Sans"/>
                <a:cs typeface="Open Sans"/>
                <a:sym typeface="Open Sans"/>
              </a:defRPr>
            </a:lvl2pPr>
            <a:lvl3pPr marL="1371600" lvl="2" indent="-355600" algn="l">
              <a:lnSpc>
                <a:spcPct val="100000"/>
              </a:lnSpc>
              <a:spcBef>
                <a:spcPts val="0"/>
              </a:spcBef>
              <a:spcAft>
                <a:spcPts val="0"/>
              </a:spcAft>
              <a:buSzPts val="2000"/>
              <a:buFont typeface="Open Sans"/>
              <a:buChar char="□"/>
              <a:defRPr>
                <a:latin typeface="Open Sans"/>
                <a:ea typeface="Open Sans"/>
                <a:cs typeface="Open Sans"/>
                <a:sym typeface="Open Sans"/>
              </a:defRPr>
            </a:lvl3pPr>
            <a:lvl4pPr marL="1828800" lvl="3" indent="-355600" algn="l">
              <a:lnSpc>
                <a:spcPct val="100000"/>
              </a:lnSpc>
              <a:spcBef>
                <a:spcPts val="0"/>
              </a:spcBef>
              <a:spcAft>
                <a:spcPts val="0"/>
              </a:spcAft>
              <a:buSzPts val="2000"/>
              <a:buFont typeface="Open Sans"/>
              <a:buChar char="□"/>
              <a:defRPr>
                <a:latin typeface="Open Sans"/>
                <a:ea typeface="Open Sans"/>
                <a:cs typeface="Open Sans"/>
                <a:sym typeface="Open Sans"/>
              </a:defRPr>
            </a:lvl4pPr>
            <a:lvl5pPr marL="2286000" lvl="4" indent="-355600" algn="l">
              <a:lnSpc>
                <a:spcPct val="100000"/>
              </a:lnSpc>
              <a:spcBef>
                <a:spcPts val="0"/>
              </a:spcBef>
              <a:spcAft>
                <a:spcPts val="0"/>
              </a:spcAft>
              <a:buSzPts val="2000"/>
              <a:buFont typeface="Open Sans"/>
              <a:buChar char="○"/>
              <a:defRPr>
                <a:latin typeface="Open Sans"/>
                <a:ea typeface="Open Sans"/>
                <a:cs typeface="Open Sans"/>
                <a:sym typeface="Open Sans"/>
              </a:defRPr>
            </a:lvl5pPr>
            <a:lvl6pPr marL="2743200" lvl="5" indent="-355600" algn="l">
              <a:lnSpc>
                <a:spcPct val="100000"/>
              </a:lnSpc>
              <a:spcBef>
                <a:spcPts val="0"/>
              </a:spcBef>
              <a:spcAft>
                <a:spcPts val="0"/>
              </a:spcAft>
              <a:buSzPts val="2000"/>
              <a:buFont typeface="Open Sans"/>
              <a:buChar char="■"/>
              <a:defRPr>
                <a:latin typeface="Open Sans"/>
                <a:ea typeface="Open Sans"/>
                <a:cs typeface="Open Sans"/>
                <a:sym typeface="Open Sans"/>
              </a:defRPr>
            </a:lvl6pPr>
            <a:lvl7pPr marL="3200400" lvl="6" indent="-355600" algn="l">
              <a:lnSpc>
                <a:spcPct val="100000"/>
              </a:lnSpc>
              <a:spcBef>
                <a:spcPts val="0"/>
              </a:spcBef>
              <a:spcAft>
                <a:spcPts val="0"/>
              </a:spcAft>
              <a:buSzPts val="2000"/>
              <a:buFont typeface="Open Sans"/>
              <a:buChar char="●"/>
              <a:defRPr>
                <a:latin typeface="Open Sans"/>
                <a:ea typeface="Open Sans"/>
                <a:cs typeface="Open Sans"/>
                <a:sym typeface="Open Sans"/>
              </a:defRPr>
            </a:lvl7pPr>
            <a:lvl8pPr marL="3657600" lvl="7" indent="-355600" algn="l">
              <a:lnSpc>
                <a:spcPct val="100000"/>
              </a:lnSpc>
              <a:spcBef>
                <a:spcPts val="0"/>
              </a:spcBef>
              <a:spcAft>
                <a:spcPts val="0"/>
              </a:spcAft>
              <a:buSzPts val="2000"/>
              <a:buFont typeface="Open Sans"/>
              <a:buChar char="○"/>
              <a:defRPr>
                <a:latin typeface="Open Sans"/>
                <a:ea typeface="Open Sans"/>
                <a:cs typeface="Open Sans"/>
                <a:sym typeface="Open Sans"/>
              </a:defRPr>
            </a:lvl8pPr>
            <a:lvl9pPr marL="4114800" lvl="8" indent="-355600" algn="l">
              <a:lnSpc>
                <a:spcPct val="100000"/>
              </a:lnSpc>
              <a:spcBef>
                <a:spcPts val="0"/>
              </a:spcBef>
              <a:spcAft>
                <a:spcPts val="0"/>
              </a:spcAft>
              <a:buSzPts val="2000"/>
              <a:buFont typeface="Open Sans"/>
              <a:buChar char="■"/>
              <a:defRPr>
                <a:latin typeface="Open Sans"/>
                <a:ea typeface="Open Sans"/>
                <a:cs typeface="Open Sans"/>
                <a:sym typeface="Open Sans"/>
              </a:defRPr>
            </a:lvl9pPr>
          </a:lstStyle>
          <a:p>
            <a:endParaRPr/>
          </a:p>
        </p:txBody>
      </p:sp>
      <p:sp>
        <p:nvSpPr>
          <p:cNvPr id="17" name="Google Shape;17;p37"/>
          <p:cNvSpPr txBox="1">
            <a:spLocks noGrp="1"/>
          </p:cNvSpPr>
          <p:nvPr>
            <p:ph type="ctrTitle"/>
          </p:nvPr>
        </p:nvSpPr>
        <p:spPr>
          <a:xfrm>
            <a:off x="940250" y="947800"/>
            <a:ext cx="49500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Font typeface="Open Sans"/>
              <a:buNone/>
              <a:defRPr sz="3000">
                <a:latin typeface="Open Sans"/>
                <a:ea typeface="Open Sans"/>
                <a:cs typeface="Open Sans"/>
                <a:sym typeface="Open Sans"/>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8" name="Google Shape;18;p37"/>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r>
              <a:rPr lang="en-MY" sz="1000" b="0" i="0" u="none" strike="noStrike" cap="none">
                <a:solidFill>
                  <a:srgbClr val="666666"/>
                </a:solidFill>
                <a:latin typeface="Open Sans"/>
                <a:ea typeface="Open Sans"/>
                <a:cs typeface="Open Sans"/>
                <a:sym typeface="Open Sans"/>
              </a:rPr>
              <a:t>teachcomputerscience.com</a:t>
            </a:r>
            <a:endParaRPr sz="1000" b="0" i="0" u="none" strike="noStrike" cap="none">
              <a:solidFill>
                <a:srgbClr val="666666"/>
              </a:solidFill>
              <a:latin typeface="Open Sans"/>
              <a:ea typeface="Open Sans"/>
              <a:cs typeface="Open Sans"/>
              <a:sym typeface="Open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9"/>
        <p:cNvGrpSpPr/>
        <p:nvPr/>
      </p:nvGrpSpPr>
      <p:grpSpPr>
        <a:xfrm>
          <a:off x="0" y="0"/>
          <a:ext cx="0" cy="0"/>
          <a:chOff x="0" y="0"/>
          <a:chExt cx="0" cy="0"/>
        </a:xfrm>
      </p:grpSpPr>
      <p:pic>
        <p:nvPicPr>
          <p:cNvPr id="20" name="Google Shape;20;p38"/>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21" name="Google Shape;21;p38"/>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8"/>
          <p:cNvSpPr txBox="1">
            <a:spLocks noGrp="1"/>
          </p:cNvSpPr>
          <p:nvPr>
            <p:ph type="ctrTitle"/>
          </p:nvPr>
        </p:nvSpPr>
        <p:spPr>
          <a:xfrm>
            <a:off x="1012800" y="2497750"/>
            <a:ext cx="49500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Font typeface="Open Sans"/>
              <a:buNone/>
              <a:defRPr sz="3000">
                <a:latin typeface="Open Sans"/>
                <a:ea typeface="Open Sans"/>
                <a:cs typeface="Open Sans"/>
                <a:sym typeface="Open Sans"/>
              </a:defRPr>
            </a:lvl1pPr>
            <a:lvl2pPr lvl="1" algn="l">
              <a:lnSpc>
                <a:spcPct val="100000"/>
              </a:lnSpc>
              <a:spcBef>
                <a:spcPts val="0"/>
              </a:spcBef>
              <a:spcAft>
                <a:spcPts val="0"/>
              </a:spcAft>
              <a:buSzPts val="4800"/>
              <a:buFont typeface="Open Sans"/>
              <a:buNone/>
              <a:defRPr sz="4800">
                <a:latin typeface="Open Sans"/>
                <a:ea typeface="Open Sans"/>
                <a:cs typeface="Open Sans"/>
                <a:sym typeface="Open Sans"/>
              </a:defRPr>
            </a:lvl2pPr>
            <a:lvl3pPr lvl="2" algn="l">
              <a:lnSpc>
                <a:spcPct val="100000"/>
              </a:lnSpc>
              <a:spcBef>
                <a:spcPts val="0"/>
              </a:spcBef>
              <a:spcAft>
                <a:spcPts val="0"/>
              </a:spcAft>
              <a:buSzPts val="4800"/>
              <a:buFont typeface="Open Sans"/>
              <a:buNone/>
              <a:defRPr sz="4800">
                <a:latin typeface="Open Sans"/>
                <a:ea typeface="Open Sans"/>
                <a:cs typeface="Open Sans"/>
                <a:sym typeface="Open Sans"/>
              </a:defRPr>
            </a:lvl3pPr>
            <a:lvl4pPr lvl="3" algn="l">
              <a:lnSpc>
                <a:spcPct val="100000"/>
              </a:lnSpc>
              <a:spcBef>
                <a:spcPts val="0"/>
              </a:spcBef>
              <a:spcAft>
                <a:spcPts val="0"/>
              </a:spcAft>
              <a:buSzPts val="4800"/>
              <a:buFont typeface="Open Sans"/>
              <a:buNone/>
              <a:defRPr sz="4800">
                <a:latin typeface="Open Sans"/>
                <a:ea typeface="Open Sans"/>
                <a:cs typeface="Open Sans"/>
                <a:sym typeface="Open Sans"/>
              </a:defRPr>
            </a:lvl4pPr>
            <a:lvl5pPr lvl="4" algn="l">
              <a:lnSpc>
                <a:spcPct val="100000"/>
              </a:lnSpc>
              <a:spcBef>
                <a:spcPts val="0"/>
              </a:spcBef>
              <a:spcAft>
                <a:spcPts val="0"/>
              </a:spcAft>
              <a:buSzPts val="4800"/>
              <a:buFont typeface="Open Sans"/>
              <a:buNone/>
              <a:defRPr sz="4800">
                <a:latin typeface="Open Sans"/>
                <a:ea typeface="Open Sans"/>
                <a:cs typeface="Open Sans"/>
                <a:sym typeface="Open Sans"/>
              </a:defRPr>
            </a:lvl5pPr>
            <a:lvl6pPr lvl="5" algn="l">
              <a:lnSpc>
                <a:spcPct val="100000"/>
              </a:lnSpc>
              <a:spcBef>
                <a:spcPts val="0"/>
              </a:spcBef>
              <a:spcAft>
                <a:spcPts val="0"/>
              </a:spcAft>
              <a:buSzPts val="4800"/>
              <a:buFont typeface="Open Sans"/>
              <a:buNone/>
              <a:defRPr sz="4800">
                <a:latin typeface="Open Sans"/>
                <a:ea typeface="Open Sans"/>
                <a:cs typeface="Open Sans"/>
                <a:sym typeface="Open Sans"/>
              </a:defRPr>
            </a:lvl6pPr>
            <a:lvl7pPr lvl="6" algn="l">
              <a:lnSpc>
                <a:spcPct val="100000"/>
              </a:lnSpc>
              <a:spcBef>
                <a:spcPts val="0"/>
              </a:spcBef>
              <a:spcAft>
                <a:spcPts val="0"/>
              </a:spcAft>
              <a:buSzPts val="4800"/>
              <a:buFont typeface="Open Sans"/>
              <a:buNone/>
              <a:defRPr sz="4800">
                <a:latin typeface="Open Sans"/>
                <a:ea typeface="Open Sans"/>
                <a:cs typeface="Open Sans"/>
                <a:sym typeface="Open Sans"/>
              </a:defRPr>
            </a:lvl7pPr>
            <a:lvl8pPr lvl="7" algn="l">
              <a:lnSpc>
                <a:spcPct val="100000"/>
              </a:lnSpc>
              <a:spcBef>
                <a:spcPts val="0"/>
              </a:spcBef>
              <a:spcAft>
                <a:spcPts val="0"/>
              </a:spcAft>
              <a:buSzPts val="4800"/>
              <a:buFont typeface="Open Sans"/>
              <a:buNone/>
              <a:defRPr sz="4800">
                <a:latin typeface="Open Sans"/>
                <a:ea typeface="Open Sans"/>
                <a:cs typeface="Open Sans"/>
                <a:sym typeface="Open Sans"/>
              </a:defRPr>
            </a:lvl8pPr>
            <a:lvl9pPr lvl="8" algn="l">
              <a:lnSpc>
                <a:spcPct val="100000"/>
              </a:lnSpc>
              <a:spcBef>
                <a:spcPts val="0"/>
              </a:spcBef>
              <a:spcAft>
                <a:spcPts val="0"/>
              </a:spcAft>
              <a:buSzPts val="4800"/>
              <a:buFont typeface="Open Sans"/>
              <a:buNone/>
              <a:defRPr sz="4800">
                <a:latin typeface="Open Sans"/>
                <a:ea typeface="Open Sans"/>
                <a:cs typeface="Open Sans"/>
                <a:sym typeface="Open Sans"/>
              </a:defRPr>
            </a:lvl9pPr>
          </a:lstStyle>
          <a:p>
            <a:endParaRPr/>
          </a:p>
        </p:txBody>
      </p:sp>
      <p:sp>
        <p:nvSpPr>
          <p:cNvPr id="23" name="Google Shape;23;p38"/>
          <p:cNvSpPr txBox="1">
            <a:spLocks noGrp="1"/>
          </p:cNvSpPr>
          <p:nvPr>
            <p:ph type="subTitle" idx="1"/>
          </p:nvPr>
        </p:nvSpPr>
        <p:spPr>
          <a:xfrm>
            <a:off x="1012800" y="3678252"/>
            <a:ext cx="4950000" cy="7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000"/>
              <a:buFont typeface="Open Sans"/>
              <a:buNone/>
              <a:defRPr>
                <a:solidFill>
                  <a:srgbClr val="000000"/>
                </a:solidFill>
                <a:latin typeface="Open Sans"/>
                <a:ea typeface="Open Sans"/>
                <a:cs typeface="Open Sans"/>
                <a:sym typeface="Open Sans"/>
              </a:defRPr>
            </a:lvl1pPr>
            <a:lvl2pPr lvl="1" algn="l">
              <a:lnSpc>
                <a:spcPct val="100000"/>
              </a:lnSpc>
              <a:spcBef>
                <a:spcPts val="0"/>
              </a:spcBef>
              <a:spcAft>
                <a:spcPts val="0"/>
              </a:spcAft>
              <a:buClr>
                <a:srgbClr val="000000"/>
              </a:buClr>
              <a:buSzPts val="2000"/>
              <a:buNone/>
              <a:defRPr>
                <a:solidFill>
                  <a:srgbClr val="000000"/>
                </a:solidFill>
              </a:defRPr>
            </a:lvl2pPr>
            <a:lvl3pPr lvl="2" algn="l">
              <a:lnSpc>
                <a:spcPct val="100000"/>
              </a:lnSpc>
              <a:spcBef>
                <a:spcPts val="0"/>
              </a:spcBef>
              <a:spcAft>
                <a:spcPts val="0"/>
              </a:spcAft>
              <a:buClr>
                <a:srgbClr val="000000"/>
              </a:buClr>
              <a:buSzPts val="2000"/>
              <a:buNone/>
              <a:defRPr>
                <a:solidFill>
                  <a:srgbClr val="000000"/>
                </a:solidFill>
              </a:defRPr>
            </a:lvl3pPr>
            <a:lvl4pPr lvl="3" algn="l">
              <a:lnSpc>
                <a:spcPct val="100000"/>
              </a:lnSpc>
              <a:spcBef>
                <a:spcPts val="0"/>
              </a:spcBef>
              <a:spcAft>
                <a:spcPts val="0"/>
              </a:spcAft>
              <a:buClr>
                <a:srgbClr val="000000"/>
              </a:buClr>
              <a:buSzPts val="2000"/>
              <a:buNone/>
              <a:defRPr>
                <a:solidFill>
                  <a:srgbClr val="000000"/>
                </a:solidFill>
              </a:defRPr>
            </a:lvl4pPr>
            <a:lvl5pPr lvl="4" algn="l">
              <a:lnSpc>
                <a:spcPct val="100000"/>
              </a:lnSpc>
              <a:spcBef>
                <a:spcPts val="0"/>
              </a:spcBef>
              <a:spcAft>
                <a:spcPts val="0"/>
              </a:spcAft>
              <a:buClr>
                <a:srgbClr val="000000"/>
              </a:buClr>
              <a:buSzPts val="2000"/>
              <a:buNone/>
              <a:defRPr>
                <a:solidFill>
                  <a:srgbClr val="000000"/>
                </a:solidFill>
              </a:defRPr>
            </a:lvl5pPr>
            <a:lvl6pPr lvl="5" algn="l">
              <a:lnSpc>
                <a:spcPct val="100000"/>
              </a:lnSpc>
              <a:spcBef>
                <a:spcPts val="0"/>
              </a:spcBef>
              <a:spcAft>
                <a:spcPts val="0"/>
              </a:spcAft>
              <a:buClr>
                <a:srgbClr val="000000"/>
              </a:buClr>
              <a:buSzPts val="2000"/>
              <a:buNone/>
              <a:defRPr>
                <a:solidFill>
                  <a:srgbClr val="000000"/>
                </a:solidFill>
              </a:defRPr>
            </a:lvl6pPr>
            <a:lvl7pPr lvl="6" algn="l">
              <a:lnSpc>
                <a:spcPct val="100000"/>
              </a:lnSpc>
              <a:spcBef>
                <a:spcPts val="0"/>
              </a:spcBef>
              <a:spcAft>
                <a:spcPts val="0"/>
              </a:spcAft>
              <a:buClr>
                <a:srgbClr val="000000"/>
              </a:buClr>
              <a:buSzPts val="2000"/>
              <a:buNone/>
              <a:defRPr>
                <a:solidFill>
                  <a:srgbClr val="000000"/>
                </a:solidFill>
              </a:defRPr>
            </a:lvl7pPr>
            <a:lvl8pPr lvl="7" algn="l">
              <a:lnSpc>
                <a:spcPct val="100000"/>
              </a:lnSpc>
              <a:spcBef>
                <a:spcPts val="0"/>
              </a:spcBef>
              <a:spcAft>
                <a:spcPts val="0"/>
              </a:spcAft>
              <a:buClr>
                <a:srgbClr val="000000"/>
              </a:buClr>
              <a:buSzPts val="2000"/>
              <a:buNone/>
              <a:defRPr>
                <a:solidFill>
                  <a:srgbClr val="000000"/>
                </a:solidFill>
              </a:defRPr>
            </a:lvl8pPr>
            <a:lvl9pPr lvl="8" algn="l">
              <a:lnSpc>
                <a:spcPct val="100000"/>
              </a:lnSpc>
              <a:spcBef>
                <a:spcPts val="0"/>
              </a:spcBef>
              <a:spcAft>
                <a:spcPts val="0"/>
              </a:spcAft>
              <a:buClr>
                <a:srgbClr val="000000"/>
              </a:buClr>
              <a:buSzPts val="2000"/>
              <a:buNone/>
              <a:defRPr>
                <a:solidFill>
                  <a:srgbClr val="000000"/>
                </a:solidFill>
              </a:defRPr>
            </a:lvl9pPr>
          </a:lstStyle>
          <a:p>
            <a:endParaRPr/>
          </a:p>
        </p:txBody>
      </p:sp>
      <p:sp>
        <p:nvSpPr>
          <p:cNvPr id="24" name="Google Shape;24;p38"/>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r>
              <a:rPr lang="en-MY" sz="1000" b="0" i="0" u="none" strike="noStrike" cap="none">
                <a:solidFill>
                  <a:srgbClr val="666666"/>
                </a:solidFill>
                <a:latin typeface="Open Sans"/>
                <a:ea typeface="Open Sans"/>
                <a:cs typeface="Open Sans"/>
                <a:sym typeface="Open Sans"/>
              </a:rPr>
              <a:t>teachcomputerscience.com</a:t>
            </a:r>
            <a:endParaRPr sz="1000" b="0" i="0" u="none" strike="noStrike" cap="none">
              <a:solidFill>
                <a:srgbClr val="666666"/>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5"/>
        <p:cNvGrpSpPr/>
        <p:nvPr/>
      </p:nvGrpSpPr>
      <p:grpSpPr>
        <a:xfrm>
          <a:off x="0" y="0"/>
          <a:ext cx="0" cy="0"/>
          <a:chOff x="0" y="0"/>
          <a:chExt cx="0" cy="0"/>
        </a:xfrm>
      </p:grpSpPr>
      <p:pic>
        <p:nvPicPr>
          <p:cNvPr id="26" name="Google Shape;26;p39"/>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27" name="Google Shape;27;p39"/>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39"/>
          <p:cNvSpPr txBox="1">
            <a:spLocks noGrp="1"/>
          </p:cNvSpPr>
          <p:nvPr>
            <p:ph type="body" idx="1"/>
          </p:nvPr>
        </p:nvSpPr>
        <p:spPr>
          <a:xfrm>
            <a:off x="869150" y="2312925"/>
            <a:ext cx="2366400" cy="2040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600"/>
              </a:spcBef>
              <a:spcAft>
                <a:spcPts val="0"/>
              </a:spcAft>
              <a:buSzPts val="1400"/>
              <a:buChar char="▪"/>
              <a:defRPr sz="1400"/>
            </a:lvl1pPr>
            <a:lvl2pPr marL="914400" lvl="1" indent="-317500" algn="l">
              <a:lnSpc>
                <a:spcPct val="100000"/>
              </a:lnSpc>
              <a:spcBef>
                <a:spcPts val="0"/>
              </a:spcBef>
              <a:spcAft>
                <a:spcPts val="0"/>
              </a:spcAft>
              <a:buSzPts val="1400"/>
              <a:buChar char="□"/>
              <a:defRPr sz="1400"/>
            </a:lvl2pPr>
            <a:lvl3pPr marL="1371600" lvl="2" indent="-317500" algn="l">
              <a:lnSpc>
                <a:spcPct val="100000"/>
              </a:lnSpc>
              <a:spcBef>
                <a:spcPts val="0"/>
              </a:spcBef>
              <a:spcAft>
                <a:spcPts val="0"/>
              </a:spcAft>
              <a:buSzPts val="1400"/>
              <a:buChar char="□"/>
              <a:defRPr sz="1400"/>
            </a:lvl3pPr>
            <a:lvl4pPr marL="1828800" lvl="3" indent="-317500" algn="l">
              <a:lnSpc>
                <a:spcPct val="100000"/>
              </a:lnSpc>
              <a:spcBef>
                <a:spcPts val="0"/>
              </a:spcBef>
              <a:spcAft>
                <a:spcPts val="0"/>
              </a:spcAft>
              <a:buSzPts val="1400"/>
              <a:buChar char="□"/>
              <a:defRPr sz="1400"/>
            </a:lvl4pPr>
            <a:lvl5pPr marL="2286000" lvl="4" indent="-317500" algn="l">
              <a:lnSpc>
                <a:spcPct val="100000"/>
              </a:lnSpc>
              <a:spcBef>
                <a:spcPts val="0"/>
              </a:spcBef>
              <a:spcAft>
                <a:spcPts val="0"/>
              </a:spcAft>
              <a:buSzPts val="1400"/>
              <a:buChar char="○"/>
              <a:defRPr sz="1400"/>
            </a:lvl5pPr>
            <a:lvl6pPr marL="2743200" lvl="5" indent="-317500" algn="l">
              <a:lnSpc>
                <a:spcPct val="100000"/>
              </a:lnSpc>
              <a:spcBef>
                <a:spcPts val="0"/>
              </a:spcBef>
              <a:spcAft>
                <a:spcPts val="0"/>
              </a:spcAft>
              <a:buSzPts val="1400"/>
              <a:buChar char="■"/>
              <a:defRPr sz="1400"/>
            </a:lvl6pPr>
            <a:lvl7pPr marL="3200400" lvl="6" indent="-317500" algn="l">
              <a:lnSpc>
                <a:spcPct val="100000"/>
              </a:lnSpc>
              <a:spcBef>
                <a:spcPts val="0"/>
              </a:spcBef>
              <a:spcAft>
                <a:spcPts val="0"/>
              </a:spcAft>
              <a:buSzPts val="1400"/>
              <a:buChar char="●"/>
              <a:defRPr sz="1400"/>
            </a:lvl7pPr>
            <a:lvl8pPr marL="3657600" lvl="7" indent="-317500" algn="l">
              <a:lnSpc>
                <a:spcPct val="100000"/>
              </a:lnSpc>
              <a:spcBef>
                <a:spcPts val="0"/>
              </a:spcBef>
              <a:spcAft>
                <a:spcPts val="0"/>
              </a:spcAft>
              <a:buSzPts val="1400"/>
              <a:buChar char="○"/>
              <a:defRPr sz="1400"/>
            </a:lvl8pPr>
            <a:lvl9pPr marL="4114800" lvl="8" indent="-317500" algn="l">
              <a:lnSpc>
                <a:spcPct val="100000"/>
              </a:lnSpc>
              <a:spcBef>
                <a:spcPts val="0"/>
              </a:spcBef>
              <a:spcAft>
                <a:spcPts val="0"/>
              </a:spcAft>
              <a:buSzPts val="1400"/>
              <a:buChar char="■"/>
              <a:defRPr sz="1400"/>
            </a:lvl9pPr>
          </a:lstStyle>
          <a:p>
            <a:endParaRPr/>
          </a:p>
        </p:txBody>
      </p:sp>
      <p:sp>
        <p:nvSpPr>
          <p:cNvPr id="29" name="Google Shape;29;p39"/>
          <p:cNvSpPr txBox="1">
            <a:spLocks noGrp="1"/>
          </p:cNvSpPr>
          <p:nvPr>
            <p:ph type="body" idx="2"/>
          </p:nvPr>
        </p:nvSpPr>
        <p:spPr>
          <a:xfrm>
            <a:off x="3356739" y="2312925"/>
            <a:ext cx="2366400" cy="2040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600"/>
              </a:spcBef>
              <a:spcAft>
                <a:spcPts val="0"/>
              </a:spcAft>
              <a:buSzPts val="1400"/>
              <a:buChar char="▪"/>
              <a:defRPr sz="1400"/>
            </a:lvl1pPr>
            <a:lvl2pPr marL="914400" lvl="1" indent="-317500" algn="l">
              <a:lnSpc>
                <a:spcPct val="100000"/>
              </a:lnSpc>
              <a:spcBef>
                <a:spcPts val="0"/>
              </a:spcBef>
              <a:spcAft>
                <a:spcPts val="0"/>
              </a:spcAft>
              <a:buSzPts val="1400"/>
              <a:buChar char="□"/>
              <a:defRPr sz="1400"/>
            </a:lvl2pPr>
            <a:lvl3pPr marL="1371600" lvl="2" indent="-317500" algn="l">
              <a:lnSpc>
                <a:spcPct val="100000"/>
              </a:lnSpc>
              <a:spcBef>
                <a:spcPts val="0"/>
              </a:spcBef>
              <a:spcAft>
                <a:spcPts val="0"/>
              </a:spcAft>
              <a:buSzPts val="1400"/>
              <a:buChar char="□"/>
              <a:defRPr sz="1400"/>
            </a:lvl3pPr>
            <a:lvl4pPr marL="1828800" lvl="3" indent="-317500" algn="l">
              <a:lnSpc>
                <a:spcPct val="100000"/>
              </a:lnSpc>
              <a:spcBef>
                <a:spcPts val="0"/>
              </a:spcBef>
              <a:spcAft>
                <a:spcPts val="0"/>
              </a:spcAft>
              <a:buSzPts val="1400"/>
              <a:buChar char="□"/>
              <a:defRPr sz="1400"/>
            </a:lvl4pPr>
            <a:lvl5pPr marL="2286000" lvl="4" indent="-317500" algn="l">
              <a:lnSpc>
                <a:spcPct val="100000"/>
              </a:lnSpc>
              <a:spcBef>
                <a:spcPts val="0"/>
              </a:spcBef>
              <a:spcAft>
                <a:spcPts val="0"/>
              </a:spcAft>
              <a:buSzPts val="1400"/>
              <a:buChar char="○"/>
              <a:defRPr sz="1400"/>
            </a:lvl5pPr>
            <a:lvl6pPr marL="2743200" lvl="5" indent="-317500" algn="l">
              <a:lnSpc>
                <a:spcPct val="100000"/>
              </a:lnSpc>
              <a:spcBef>
                <a:spcPts val="0"/>
              </a:spcBef>
              <a:spcAft>
                <a:spcPts val="0"/>
              </a:spcAft>
              <a:buSzPts val="1400"/>
              <a:buChar char="■"/>
              <a:defRPr sz="1400"/>
            </a:lvl6pPr>
            <a:lvl7pPr marL="3200400" lvl="6" indent="-317500" algn="l">
              <a:lnSpc>
                <a:spcPct val="100000"/>
              </a:lnSpc>
              <a:spcBef>
                <a:spcPts val="0"/>
              </a:spcBef>
              <a:spcAft>
                <a:spcPts val="0"/>
              </a:spcAft>
              <a:buSzPts val="1400"/>
              <a:buChar char="●"/>
              <a:defRPr sz="1400"/>
            </a:lvl7pPr>
            <a:lvl8pPr marL="3657600" lvl="7" indent="-317500" algn="l">
              <a:lnSpc>
                <a:spcPct val="100000"/>
              </a:lnSpc>
              <a:spcBef>
                <a:spcPts val="0"/>
              </a:spcBef>
              <a:spcAft>
                <a:spcPts val="0"/>
              </a:spcAft>
              <a:buSzPts val="1400"/>
              <a:buChar char="○"/>
              <a:defRPr sz="1400"/>
            </a:lvl8pPr>
            <a:lvl9pPr marL="4114800" lvl="8" indent="-317500" algn="l">
              <a:lnSpc>
                <a:spcPct val="100000"/>
              </a:lnSpc>
              <a:spcBef>
                <a:spcPts val="0"/>
              </a:spcBef>
              <a:spcAft>
                <a:spcPts val="0"/>
              </a:spcAft>
              <a:buSzPts val="1400"/>
              <a:buChar char="■"/>
              <a:defRPr sz="1400"/>
            </a:lvl9pPr>
          </a:lstStyle>
          <a:p>
            <a:endParaRPr/>
          </a:p>
        </p:txBody>
      </p:sp>
      <p:sp>
        <p:nvSpPr>
          <p:cNvPr id="30" name="Google Shape;30;p39"/>
          <p:cNvSpPr txBox="1">
            <a:spLocks noGrp="1"/>
          </p:cNvSpPr>
          <p:nvPr>
            <p:ph type="body" idx="3"/>
          </p:nvPr>
        </p:nvSpPr>
        <p:spPr>
          <a:xfrm>
            <a:off x="5844329" y="2312925"/>
            <a:ext cx="2366400" cy="2040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600"/>
              </a:spcBef>
              <a:spcAft>
                <a:spcPts val="0"/>
              </a:spcAft>
              <a:buSzPts val="1400"/>
              <a:buChar char="▪"/>
              <a:defRPr sz="1400"/>
            </a:lvl1pPr>
            <a:lvl2pPr marL="914400" lvl="1" indent="-317500" algn="l">
              <a:lnSpc>
                <a:spcPct val="100000"/>
              </a:lnSpc>
              <a:spcBef>
                <a:spcPts val="0"/>
              </a:spcBef>
              <a:spcAft>
                <a:spcPts val="0"/>
              </a:spcAft>
              <a:buSzPts val="1400"/>
              <a:buChar char="□"/>
              <a:defRPr sz="1400"/>
            </a:lvl2pPr>
            <a:lvl3pPr marL="1371600" lvl="2" indent="-317500" algn="l">
              <a:lnSpc>
                <a:spcPct val="100000"/>
              </a:lnSpc>
              <a:spcBef>
                <a:spcPts val="0"/>
              </a:spcBef>
              <a:spcAft>
                <a:spcPts val="0"/>
              </a:spcAft>
              <a:buSzPts val="1400"/>
              <a:buChar char="□"/>
              <a:defRPr sz="1400"/>
            </a:lvl3pPr>
            <a:lvl4pPr marL="1828800" lvl="3" indent="-317500" algn="l">
              <a:lnSpc>
                <a:spcPct val="100000"/>
              </a:lnSpc>
              <a:spcBef>
                <a:spcPts val="0"/>
              </a:spcBef>
              <a:spcAft>
                <a:spcPts val="0"/>
              </a:spcAft>
              <a:buSzPts val="1400"/>
              <a:buChar char="□"/>
              <a:defRPr sz="1400"/>
            </a:lvl4pPr>
            <a:lvl5pPr marL="2286000" lvl="4" indent="-317500" algn="l">
              <a:lnSpc>
                <a:spcPct val="100000"/>
              </a:lnSpc>
              <a:spcBef>
                <a:spcPts val="0"/>
              </a:spcBef>
              <a:spcAft>
                <a:spcPts val="0"/>
              </a:spcAft>
              <a:buSzPts val="1400"/>
              <a:buChar char="○"/>
              <a:defRPr sz="1400"/>
            </a:lvl5pPr>
            <a:lvl6pPr marL="2743200" lvl="5" indent="-317500" algn="l">
              <a:lnSpc>
                <a:spcPct val="100000"/>
              </a:lnSpc>
              <a:spcBef>
                <a:spcPts val="0"/>
              </a:spcBef>
              <a:spcAft>
                <a:spcPts val="0"/>
              </a:spcAft>
              <a:buSzPts val="1400"/>
              <a:buChar char="■"/>
              <a:defRPr sz="1400"/>
            </a:lvl6pPr>
            <a:lvl7pPr marL="3200400" lvl="6" indent="-317500" algn="l">
              <a:lnSpc>
                <a:spcPct val="100000"/>
              </a:lnSpc>
              <a:spcBef>
                <a:spcPts val="0"/>
              </a:spcBef>
              <a:spcAft>
                <a:spcPts val="0"/>
              </a:spcAft>
              <a:buSzPts val="1400"/>
              <a:buChar char="●"/>
              <a:defRPr sz="1400"/>
            </a:lvl7pPr>
            <a:lvl8pPr marL="3657600" lvl="7" indent="-317500" algn="l">
              <a:lnSpc>
                <a:spcPct val="100000"/>
              </a:lnSpc>
              <a:spcBef>
                <a:spcPts val="0"/>
              </a:spcBef>
              <a:spcAft>
                <a:spcPts val="0"/>
              </a:spcAft>
              <a:buSzPts val="1400"/>
              <a:buChar char="○"/>
              <a:defRPr sz="1400"/>
            </a:lvl8pPr>
            <a:lvl9pPr marL="4114800" lvl="8" indent="-317500" algn="l">
              <a:lnSpc>
                <a:spcPct val="100000"/>
              </a:lnSpc>
              <a:spcBef>
                <a:spcPts val="0"/>
              </a:spcBef>
              <a:spcAft>
                <a:spcPts val="0"/>
              </a:spcAft>
              <a:buSzPts val="1400"/>
              <a:buChar char="■"/>
              <a:defRPr sz="1400"/>
            </a:lvl9pPr>
          </a:lstStyle>
          <a:p>
            <a:endParaRPr/>
          </a:p>
        </p:txBody>
      </p:sp>
      <p:sp>
        <p:nvSpPr>
          <p:cNvPr id="31" name="Google Shape;31;p39"/>
          <p:cNvSpPr txBox="1">
            <a:spLocks noGrp="1"/>
          </p:cNvSpPr>
          <p:nvPr>
            <p:ph type="ctrTitle"/>
          </p:nvPr>
        </p:nvSpPr>
        <p:spPr>
          <a:xfrm>
            <a:off x="940250" y="947800"/>
            <a:ext cx="49500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2" name="Google Shape;32;p39"/>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r>
              <a:rPr lang="en-MY" sz="1000" b="0" i="0" u="none" strike="noStrike" cap="none">
                <a:solidFill>
                  <a:srgbClr val="666666"/>
                </a:solidFill>
                <a:latin typeface="Open Sans"/>
                <a:ea typeface="Open Sans"/>
                <a:cs typeface="Open Sans"/>
                <a:sym typeface="Open Sans"/>
              </a:rPr>
              <a:t>teachcomputerscience.com</a:t>
            </a:r>
            <a:endParaRPr sz="1000" b="0" i="0" u="none" strike="noStrike" cap="none">
              <a:solidFill>
                <a:srgbClr val="666666"/>
              </a:solidFill>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869150" y="847600"/>
            <a:ext cx="5092200" cy="1360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3000"/>
              <a:buFont typeface="Open Sans"/>
              <a:buNone/>
              <a:defRPr sz="30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2pPr>
            <a:lvl3pPr marR="0" lvl="2"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3pPr>
            <a:lvl4pPr marR="0" lvl="3"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4pPr>
            <a:lvl5pPr marR="0" lvl="4"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5pPr>
            <a:lvl6pPr marR="0" lvl="5"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6pPr>
            <a:lvl7pPr marR="0" lvl="6"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7pPr>
            <a:lvl8pPr marR="0" lvl="7"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8pPr>
            <a:lvl9pPr marR="0" lvl="8" algn="l" rtl="0">
              <a:lnSpc>
                <a:spcPct val="10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9pPr>
          </a:lstStyle>
          <a:p>
            <a:endParaRPr/>
          </a:p>
        </p:txBody>
      </p:sp>
      <p:sp>
        <p:nvSpPr>
          <p:cNvPr id="7" name="Google Shape;7;p35"/>
          <p:cNvSpPr txBox="1">
            <a:spLocks noGrp="1"/>
          </p:cNvSpPr>
          <p:nvPr>
            <p:ph type="body" idx="1"/>
          </p:nvPr>
        </p:nvSpPr>
        <p:spPr>
          <a:xfrm>
            <a:off x="869150" y="2312925"/>
            <a:ext cx="7405800" cy="20040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60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2pPr>
            <a:lvl3pPr marL="1371600" marR="0" lvl="2"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3pPr>
            <a:lvl4pPr marL="1828800" marR="0" lvl="3"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4pPr>
            <a:lvl5pPr marL="2286000" marR="0" lvl="4"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5pPr>
            <a:lvl6pPr marL="2743200" marR="0" lvl="5"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6pPr>
            <a:lvl7pPr marL="3200400" marR="0" lvl="6"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7pPr>
            <a:lvl8pPr marL="3657600" marR="0" lvl="7"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8pPr>
            <a:lvl9pPr marL="4114800" marR="0" lvl="8" indent="-355600" algn="l" rtl="0">
              <a:lnSpc>
                <a:spcPct val="100000"/>
              </a:lnSpc>
              <a:spcBef>
                <a:spcPts val="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1"/>
          <p:cNvSpPr txBox="1">
            <a:spLocks noGrp="1"/>
          </p:cNvSpPr>
          <p:nvPr>
            <p:ph type="ctrTitle"/>
          </p:nvPr>
        </p:nvSpPr>
        <p:spPr>
          <a:xfrm>
            <a:off x="2221200" y="1905450"/>
            <a:ext cx="4701600" cy="133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600"/>
              <a:buNone/>
            </a:pPr>
            <a:r>
              <a:rPr lang="en-MY" sz="3200"/>
              <a:t>Object-oriented techniques</a:t>
            </a:r>
            <a:endParaRPr sz="3200"/>
          </a:p>
        </p:txBody>
      </p:sp>
      <p:pic>
        <p:nvPicPr>
          <p:cNvPr id="38" name="Google Shape;38;p1"/>
          <p:cNvPicPr preferRelativeResize="0"/>
          <p:nvPr/>
        </p:nvPicPr>
        <p:blipFill rotWithShape="1">
          <a:blip r:embed="rId3">
            <a:alphaModFix/>
          </a:blip>
          <a:srcRect/>
          <a:stretch/>
        </p:blipFill>
        <p:spPr>
          <a:xfrm>
            <a:off x="4302107" y="466350"/>
            <a:ext cx="539775" cy="539775"/>
          </a:xfrm>
          <a:prstGeom prst="rect">
            <a:avLst/>
          </a:prstGeom>
          <a:noFill/>
          <a:ln>
            <a:noFill/>
          </a:ln>
        </p:spPr>
      </p:pic>
      <p:sp>
        <p:nvSpPr>
          <p:cNvPr id="39" name="Google Shape;39;p1"/>
          <p:cNvSpPr txBox="1">
            <a:spLocks noGrp="1"/>
          </p:cNvSpPr>
          <p:nvPr>
            <p:ph type="ctrTitle"/>
          </p:nvPr>
        </p:nvSpPr>
        <p:spPr>
          <a:xfrm>
            <a:off x="1962450" y="1055363"/>
            <a:ext cx="5219100" cy="584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SzPts val="3600"/>
              <a:buNone/>
            </a:pPr>
            <a:r>
              <a:rPr lang="en-MY" sz="3000" b="1"/>
              <a:t>Teach Computer Science</a:t>
            </a:r>
            <a:endParaRPr sz="3000" b="1"/>
          </a:p>
        </p:txBody>
      </p:sp>
      <p:sp>
        <p:nvSpPr>
          <p:cNvPr id="40" name="Google Shape;40;p1"/>
          <p:cNvSpPr txBox="1"/>
          <p:nvPr/>
        </p:nvSpPr>
        <p:spPr>
          <a:xfrm>
            <a:off x="1962450" y="1539426"/>
            <a:ext cx="5219100" cy="584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1"/>
              </a:buClr>
              <a:buSzPts val="3600"/>
              <a:buFont typeface="Open Sans"/>
              <a:buNone/>
            </a:pPr>
            <a:r>
              <a:rPr lang="en-MY" sz="2400" b="1" i="0" u="none" strike="noStrike" cap="none">
                <a:solidFill>
                  <a:schemeClr val="dk1"/>
                </a:solidFill>
                <a:latin typeface="Open Sans"/>
                <a:ea typeface="Open Sans"/>
                <a:cs typeface="Open Sans"/>
                <a:sym typeface="Open Sans"/>
              </a:rPr>
              <a:t>A-Level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2"/>
          <p:cNvSpPr txBox="1">
            <a:spLocks noGrp="1"/>
          </p:cNvSpPr>
          <p:nvPr>
            <p:ph type="title" idx="4294967295"/>
          </p:nvPr>
        </p:nvSpPr>
        <p:spPr>
          <a:xfrm>
            <a:off x="869150" y="1005922"/>
            <a:ext cx="5092200" cy="626184"/>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a:t>Lesson Objectives</a:t>
            </a:r>
            <a:endParaRPr/>
          </a:p>
        </p:txBody>
      </p:sp>
      <p:sp>
        <p:nvSpPr>
          <p:cNvPr id="46" name="Google Shape;46;p2"/>
          <p:cNvSpPr txBox="1">
            <a:spLocks noGrp="1"/>
          </p:cNvSpPr>
          <p:nvPr>
            <p:ph type="body" idx="1"/>
          </p:nvPr>
        </p:nvSpPr>
        <p:spPr>
          <a:xfrm>
            <a:off x="869150" y="2017362"/>
            <a:ext cx="7405800" cy="2004000"/>
          </a:xfrm>
          <a:prstGeom prst="rect">
            <a:avLst/>
          </a:prstGeom>
          <a:noFill/>
          <a:ln>
            <a:noFill/>
          </a:ln>
        </p:spPr>
        <p:txBody>
          <a:bodyPr spcFirstLastPara="1" wrap="square" lIns="91425" tIns="91425" rIns="91425" bIns="91425" anchor="t" anchorCtr="0">
            <a:noAutofit/>
          </a:bodyPr>
          <a:lstStyle/>
          <a:p>
            <a:pPr marL="114300" lvl="0" indent="0" algn="l" rtl="0">
              <a:lnSpc>
                <a:spcPct val="100000"/>
              </a:lnSpc>
              <a:spcBef>
                <a:spcPts val="600"/>
              </a:spcBef>
              <a:spcAft>
                <a:spcPts val="0"/>
              </a:spcAft>
              <a:buSzPts val="1800"/>
              <a:buNone/>
            </a:pPr>
            <a:r>
              <a:rPr lang="en-MY" sz="1800"/>
              <a:t>Students will learn about:</a:t>
            </a:r>
            <a:endParaRPr/>
          </a:p>
          <a:p>
            <a:pPr marL="457200" lvl="0" indent="-342900" algn="l" rtl="0">
              <a:lnSpc>
                <a:spcPct val="100000"/>
              </a:lnSpc>
              <a:spcBef>
                <a:spcPts val="600"/>
              </a:spcBef>
              <a:spcAft>
                <a:spcPts val="0"/>
              </a:spcAft>
              <a:buSzPts val="1800"/>
              <a:buChar char="▪"/>
            </a:pPr>
            <a:r>
              <a:rPr lang="en-MY" sz="1800"/>
              <a:t>Class &amp; Objects</a:t>
            </a:r>
            <a:endParaRPr/>
          </a:p>
          <a:p>
            <a:pPr marL="457200" lvl="0" indent="-342900" algn="l" rtl="0">
              <a:lnSpc>
                <a:spcPct val="100000"/>
              </a:lnSpc>
              <a:spcBef>
                <a:spcPts val="600"/>
              </a:spcBef>
              <a:spcAft>
                <a:spcPts val="0"/>
              </a:spcAft>
              <a:buSzPts val="1800"/>
              <a:buChar char="▪"/>
            </a:pPr>
            <a:r>
              <a:rPr lang="en-MY" sz="1800"/>
              <a:t>Features of object-oriented programming</a:t>
            </a:r>
            <a:endParaRPr/>
          </a:p>
          <a:p>
            <a:pPr marL="457200" lvl="0" indent="-342900" algn="l" rtl="0">
              <a:lnSpc>
                <a:spcPct val="100000"/>
              </a:lnSpc>
              <a:spcBef>
                <a:spcPts val="600"/>
              </a:spcBef>
              <a:spcAft>
                <a:spcPts val="0"/>
              </a:spcAft>
              <a:buSzPts val="1800"/>
              <a:buChar char="▪"/>
            </a:pPr>
            <a:r>
              <a:rPr lang="en-MY" sz="1800"/>
              <a:t>Constructor</a:t>
            </a:r>
            <a:endParaRPr/>
          </a:p>
          <a:p>
            <a:pPr marL="457200" lvl="0" indent="-342900" algn="l" rtl="0">
              <a:lnSpc>
                <a:spcPct val="100000"/>
              </a:lnSpc>
              <a:spcBef>
                <a:spcPts val="600"/>
              </a:spcBef>
              <a:spcAft>
                <a:spcPts val="0"/>
              </a:spcAft>
              <a:buSzPts val="1800"/>
              <a:buChar char="▪"/>
            </a:pPr>
            <a:r>
              <a:rPr lang="en-MY" sz="1800"/>
              <a:t>get() and set() methods</a:t>
            </a:r>
            <a:endParaRPr/>
          </a:p>
        </p:txBody>
      </p:sp>
      <p:sp>
        <p:nvSpPr>
          <p:cNvPr id="47" name="Google Shape;47;p2"/>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grpSp>
        <p:nvGrpSpPr>
          <p:cNvPr id="48" name="Google Shape;48;p2"/>
          <p:cNvGrpSpPr/>
          <p:nvPr/>
        </p:nvGrpSpPr>
        <p:grpSpPr>
          <a:xfrm>
            <a:off x="7713184" y="579369"/>
            <a:ext cx="623940" cy="789090"/>
            <a:chOff x="584925" y="238125"/>
            <a:chExt cx="415200" cy="525100"/>
          </a:xfrm>
        </p:grpSpPr>
        <p:sp>
          <p:nvSpPr>
            <p:cNvPr id="49" name="Google Shape;49;p2"/>
            <p:cNvSpPr/>
            <p:nvPr/>
          </p:nvSpPr>
          <p:spPr>
            <a:xfrm>
              <a:off x="621550" y="299175"/>
              <a:ext cx="378575" cy="464050"/>
            </a:xfrm>
            <a:custGeom>
              <a:avLst/>
              <a:gdLst/>
              <a:ahLst/>
              <a:cxnLst/>
              <a:rect l="l" t="t" r="r" b="b"/>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2"/>
            <p:cNvSpPr/>
            <p:nvPr/>
          </p:nvSpPr>
          <p:spPr>
            <a:xfrm>
              <a:off x="633750" y="2381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
            <p:cNvSpPr/>
            <p:nvPr/>
          </p:nvSpPr>
          <p:spPr>
            <a:xfrm>
              <a:off x="716800"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2"/>
            <p:cNvSpPr/>
            <p:nvPr/>
          </p:nvSpPr>
          <p:spPr>
            <a:xfrm>
              <a:off x="799825" y="238125"/>
              <a:ext cx="29350" cy="63500"/>
            </a:xfrm>
            <a:custGeom>
              <a:avLst/>
              <a:gdLst/>
              <a:ahLst/>
              <a:cxnLst/>
              <a:rect l="l" t="t" r="r" b="b"/>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
            <p:cNvSpPr/>
            <p:nvPr/>
          </p:nvSpPr>
          <p:spPr>
            <a:xfrm>
              <a:off x="882875"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2"/>
            <p:cNvSpPr/>
            <p:nvPr/>
          </p:nvSpPr>
          <p:spPr>
            <a:xfrm>
              <a:off x="584925" y="261325"/>
              <a:ext cx="378575" cy="464050"/>
            </a:xfrm>
            <a:custGeom>
              <a:avLst/>
              <a:gdLst/>
              <a:ahLst/>
              <a:cxnLst/>
              <a:rect l="l" t="t" r="r" b="b"/>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a:spLocks noGrp="1"/>
          </p:cNvSpPr>
          <p:nvPr>
            <p:ph type="ctrTitle"/>
          </p:nvPr>
        </p:nvSpPr>
        <p:spPr>
          <a:xfrm>
            <a:off x="1012800" y="2497750"/>
            <a:ext cx="49500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a:t>Content</a:t>
            </a:r>
            <a:endParaRPr/>
          </a:p>
        </p:txBody>
      </p:sp>
      <p:sp>
        <p:nvSpPr>
          <p:cNvPr id="60" name="Google Shape;60;p3"/>
          <p:cNvSpPr txBox="1"/>
          <p:nvPr/>
        </p:nvSpPr>
        <p:spPr>
          <a:xfrm>
            <a:off x="6219050" y="337750"/>
            <a:ext cx="2232000" cy="19314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chemeClr val="dk1"/>
              </a:buClr>
              <a:buSzPts val="1100"/>
              <a:buFont typeface="Arial"/>
              <a:buNone/>
            </a:pPr>
            <a:r>
              <a:rPr lang="en-MY" sz="12000" b="1" i="0" u="none" strike="noStrike" cap="none">
                <a:solidFill>
                  <a:srgbClr val="0090FF"/>
                </a:solidFill>
                <a:latin typeface="Open Sans"/>
                <a:ea typeface="Open Sans"/>
                <a:cs typeface="Open Sans"/>
                <a:sym typeface="Open Sans"/>
              </a:rPr>
              <a:t>1.</a:t>
            </a:r>
            <a:endParaRPr sz="12000" b="1" i="0" u="none" strike="noStrike" cap="none">
              <a:solidFill>
                <a:srgbClr val="0090FF"/>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title" idx="4294967295"/>
          </p:nvPr>
        </p:nvSpPr>
        <p:spPr>
          <a:xfrm>
            <a:off x="859852" y="663678"/>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Introduction</a:t>
            </a:r>
            <a:endParaRPr/>
          </a:p>
        </p:txBody>
      </p:sp>
      <p:sp>
        <p:nvSpPr>
          <p:cNvPr id="66" name="Google Shape;66;p4"/>
          <p:cNvSpPr txBox="1">
            <a:spLocks noGrp="1"/>
          </p:cNvSpPr>
          <p:nvPr>
            <p:ph type="body" idx="1"/>
          </p:nvPr>
        </p:nvSpPr>
        <p:spPr>
          <a:xfrm>
            <a:off x="859853" y="1571099"/>
            <a:ext cx="7405800"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800">
                <a:solidFill>
                  <a:srgbClr val="000000"/>
                </a:solidFill>
                <a:latin typeface="Open Sans"/>
                <a:ea typeface="Open Sans"/>
                <a:cs typeface="Open Sans"/>
                <a:sym typeface="Open Sans"/>
              </a:rPr>
              <a:t>Procedural programming offers the basic programming constructs such as sequence, selection and iteration. This type of language also supports modules and procedures.</a:t>
            </a:r>
            <a:endParaRPr/>
          </a:p>
          <a:p>
            <a:pPr marL="457200" lvl="0" indent="-355600" algn="l" rtl="0">
              <a:lnSpc>
                <a:spcPct val="115000"/>
              </a:lnSpc>
              <a:spcBef>
                <a:spcPts val="600"/>
              </a:spcBef>
              <a:spcAft>
                <a:spcPts val="0"/>
              </a:spcAft>
              <a:buSzPts val="2000"/>
              <a:buChar char="▪"/>
            </a:pPr>
            <a:r>
              <a:rPr lang="en-MY" sz="1800">
                <a:solidFill>
                  <a:srgbClr val="000000"/>
                </a:solidFill>
                <a:latin typeface="Open Sans"/>
                <a:ea typeface="Open Sans"/>
                <a:cs typeface="Open Sans"/>
                <a:sym typeface="Open Sans"/>
              </a:rPr>
              <a:t>In object-oriented programming, program is decomposed into a number of meaningful objects. An object consists of data and functions. Objects communicate with each other through member functions.</a:t>
            </a:r>
            <a:endParaRPr/>
          </a:p>
          <a:p>
            <a:pPr marL="457200" lvl="0" indent="-355600" algn="l" rtl="0">
              <a:lnSpc>
                <a:spcPct val="115000"/>
              </a:lnSpc>
              <a:spcBef>
                <a:spcPts val="600"/>
              </a:spcBef>
              <a:spcAft>
                <a:spcPts val="0"/>
              </a:spcAft>
              <a:buSzPts val="2000"/>
              <a:buChar char="▪"/>
            </a:pPr>
            <a:r>
              <a:rPr lang="en-MY" sz="1800">
                <a:solidFill>
                  <a:srgbClr val="000000"/>
                </a:solidFill>
                <a:latin typeface="Open Sans"/>
                <a:ea typeface="Open Sans"/>
                <a:cs typeface="Open Sans"/>
                <a:sym typeface="Open Sans"/>
              </a:rPr>
              <a:t>Examples of programming languages that support object-oriented approach are Python, Java and Delphi.</a:t>
            </a:r>
            <a:endParaRPr/>
          </a:p>
        </p:txBody>
      </p:sp>
      <p:grpSp>
        <p:nvGrpSpPr>
          <p:cNvPr id="67" name="Google Shape;67;p4"/>
          <p:cNvGrpSpPr/>
          <p:nvPr/>
        </p:nvGrpSpPr>
        <p:grpSpPr>
          <a:xfrm>
            <a:off x="7516121" y="711701"/>
            <a:ext cx="903434" cy="903434"/>
            <a:chOff x="2594325" y="1627175"/>
            <a:chExt cx="440850" cy="440850"/>
          </a:xfrm>
        </p:grpSpPr>
        <p:sp>
          <p:nvSpPr>
            <p:cNvPr id="68" name="Google Shape;68;p4"/>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4"/>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1" name="Google Shape;71;p4"/>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5"/>
          <p:cNvSpPr txBox="1">
            <a:spLocks noGrp="1"/>
          </p:cNvSpPr>
          <p:nvPr>
            <p:ph type="title" idx="4294967295"/>
          </p:nvPr>
        </p:nvSpPr>
        <p:spPr>
          <a:xfrm>
            <a:off x="859852" y="865603"/>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1"/>
              </a:buClr>
              <a:buSzPts val="3000"/>
              <a:buFont typeface="Open Sans"/>
              <a:buNone/>
            </a:pPr>
            <a:r>
              <a:rPr lang="en-MY" sz="2800"/>
              <a:t>Class and Objects</a:t>
            </a:r>
            <a:endParaRPr/>
          </a:p>
        </p:txBody>
      </p:sp>
      <p:sp>
        <p:nvSpPr>
          <p:cNvPr id="77" name="Google Shape;77;p5"/>
          <p:cNvSpPr txBox="1">
            <a:spLocks noGrp="1"/>
          </p:cNvSpPr>
          <p:nvPr>
            <p:ph type="body" idx="1"/>
          </p:nvPr>
        </p:nvSpPr>
        <p:spPr>
          <a:xfrm>
            <a:off x="859850" y="1615125"/>
            <a:ext cx="7477200" cy="21618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Objects are the basic building blocks of object-oriented programming.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Any physical or logical entity that has a state, and behaviour is called an object.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For example, in a school system, teachers, students and courses are objects. In a bank, customers and accounts are objects. Each object has its own member data and functions so that it can be programmed like a real-world object.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Any physical or logical entity that has a state and behaviour is called object. </a:t>
            </a:r>
            <a:endParaRPr/>
          </a:p>
        </p:txBody>
      </p:sp>
      <p:sp>
        <p:nvSpPr>
          <p:cNvPr id="78" name="Google Shape;78;p5"/>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grpSp>
        <p:nvGrpSpPr>
          <p:cNvPr id="79" name="Google Shape;79;p5"/>
          <p:cNvGrpSpPr/>
          <p:nvPr/>
        </p:nvGrpSpPr>
        <p:grpSpPr>
          <a:xfrm>
            <a:off x="7516121" y="711701"/>
            <a:ext cx="903434" cy="903434"/>
            <a:chOff x="2594325" y="1627175"/>
            <a:chExt cx="440850" cy="440850"/>
          </a:xfrm>
        </p:grpSpPr>
        <p:sp>
          <p:nvSpPr>
            <p:cNvPr id="80" name="Google Shape;80;p5"/>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5"/>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5"/>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6"/>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Class and Objects</a:t>
            </a:r>
            <a:endParaRPr/>
          </a:p>
        </p:txBody>
      </p:sp>
      <p:sp>
        <p:nvSpPr>
          <p:cNvPr id="88" name="Google Shape;88;p6"/>
          <p:cNvSpPr txBox="1">
            <a:spLocks noGrp="1"/>
          </p:cNvSpPr>
          <p:nvPr>
            <p:ph type="body" idx="1"/>
          </p:nvPr>
        </p:nvSpPr>
        <p:spPr>
          <a:xfrm>
            <a:off x="953289" y="1830490"/>
            <a:ext cx="5100600"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Class is the blueprint of an object.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You need to create a class first to create an object.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Each class consists of its set of attributes.</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Attributes: </a:t>
            </a:r>
            <a:r>
              <a:rPr lang="en-MY" sz="1600">
                <a:solidFill>
                  <a:srgbClr val="000000"/>
                </a:solidFill>
              </a:rPr>
              <a:t>D</a:t>
            </a:r>
            <a:r>
              <a:rPr lang="en-MY" sz="1600">
                <a:solidFill>
                  <a:srgbClr val="000000"/>
                </a:solidFill>
                <a:latin typeface="Open Sans"/>
                <a:ea typeface="Open Sans"/>
                <a:cs typeface="Open Sans"/>
                <a:sym typeface="Open Sans"/>
              </a:rPr>
              <a:t>enotes the information about the objects that are created using a class.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Examples: For each student, attributes such as name, address, courses and grades are stored.</a:t>
            </a:r>
            <a:endParaRPr/>
          </a:p>
        </p:txBody>
      </p:sp>
      <p:sp>
        <p:nvSpPr>
          <p:cNvPr id="89" name="Google Shape;89;p6"/>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grpSp>
        <p:nvGrpSpPr>
          <p:cNvPr id="90" name="Google Shape;90;p6"/>
          <p:cNvGrpSpPr/>
          <p:nvPr/>
        </p:nvGrpSpPr>
        <p:grpSpPr>
          <a:xfrm>
            <a:off x="7516121" y="711701"/>
            <a:ext cx="903434" cy="903434"/>
            <a:chOff x="2594325" y="1627175"/>
            <a:chExt cx="440850" cy="440850"/>
          </a:xfrm>
        </p:grpSpPr>
        <p:sp>
          <p:nvSpPr>
            <p:cNvPr id="91" name="Google Shape;91;p6"/>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6"/>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6"/>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4" name="Google Shape;94;p6"/>
          <p:cNvGrpSpPr/>
          <p:nvPr/>
        </p:nvGrpSpPr>
        <p:grpSpPr>
          <a:xfrm>
            <a:off x="6229105" y="2387228"/>
            <a:ext cx="1828845" cy="1899215"/>
            <a:chOff x="2617076" y="4277710"/>
            <a:chExt cx="1828845" cy="1899215"/>
          </a:xfrm>
        </p:grpSpPr>
        <p:sp>
          <p:nvSpPr>
            <p:cNvPr id="95" name="Google Shape;95;p6"/>
            <p:cNvSpPr/>
            <p:nvPr/>
          </p:nvSpPr>
          <p:spPr>
            <a:xfrm>
              <a:off x="2617076" y="4277710"/>
              <a:ext cx="1828800" cy="1899215"/>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96" name="Google Shape;96;p6"/>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97" name="Google Shape;97;p6"/>
            <p:cNvSpPr txBox="1"/>
            <p:nvPr/>
          </p:nvSpPr>
          <p:spPr>
            <a:xfrm>
              <a:off x="2847221" y="4343532"/>
              <a:ext cx="1598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Student (class)</a:t>
              </a:r>
              <a:endParaRPr sz="1400" b="1" i="0" u="none" strike="noStrike" cap="none">
                <a:solidFill>
                  <a:srgbClr val="000000"/>
                </a:solidFill>
                <a:latin typeface="Open Sans"/>
                <a:ea typeface="Open Sans"/>
                <a:cs typeface="Open Sans"/>
                <a:sym typeface="Open Sans"/>
              </a:endParaRPr>
            </a:p>
          </p:txBody>
        </p:sp>
        <p:sp>
          <p:nvSpPr>
            <p:cNvPr id="98" name="Google Shape;98;p6"/>
            <p:cNvSpPr txBox="1"/>
            <p:nvPr/>
          </p:nvSpPr>
          <p:spPr>
            <a:xfrm>
              <a:off x="2617076" y="4763246"/>
              <a:ext cx="1665466"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Attributes: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Name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Courses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Grades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Behaviour: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Printgrade()</a:t>
              </a: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title" idx="4294967295"/>
          </p:nvPr>
        </p:nvSpPr>
        <p:spPr>
          <a:xfrm>
            <a:off x="859852" y="1252255"/>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Class and Objects</a:t>
            </a:r>
            <a:endParaRPr/>
          </a:p>
        </p:txBody>
      </p:sp>
      <p:sp>
        <p:nvSpPr>
          <p:cNvPr id="104" name="Google Shape;104;p7"/>
          <p:cNvSpPr txBox="1">
            <a:spLocks noGrp="1"/>
          </p:cNvSpPr>
          <p:nvPr>
            <p:ph type="body" idx="1"/>
          </p:nvPr>
        </p:nvSpPr>
        <p:spPr>
          <a:xfrm>
            <a:off x="859852" y="2159676"/>
            <a:ext cx="5100681"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 class also consists of behaviours.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Behaviours or methods are procedures associated with a class.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For a student class, a procedure to print grades is behaviour. </a:t>
            </a:r>
            <a:endParaRPr/>
          </a:p>
        </p:txBody>
      </p:sp>
      <p:sp>
        <p:nvSpPr>
          <p:cNvPr id="105" name="Google Shape;105;p7"/>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grpSp>
        <p:nvGrpSpPr>
          <p:cNvPr id="106" name="Google Shape;106;p7"/>
          <p:cNvGrpSpPr/>
          <p:nvPr/>
        </p:nvGrpSpPr>
        <p:grpSpPr>
          <a:xfrm>
            <a:off x="7516121" y="711701"/>
            <a:ext cx="903434" cy="903434"/>
            <a:chOff x="2594325" y="1627175"/>
            <a:chExt cx="440850" cy="440850"/>
          </a:xfrm>
        </p:grpSpPr>
        <p:sp>
          <p:nvSpPr>
            <p:cNvPr id="107" name="Google Shape;107;p7"/>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7"/>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0" name="Google Shape;110;p7"/>
          <p:cNvGrpSpPr/>
          <p:nvPr/>
        </p:nvGrpSpPr>
        <p:grpSpPr>
          <a:xfrm>
            <a:off x="6229105" y="2387228"/>
            <a:ext cx="1828800" cy="1899215"/>
            <a:chOff x="2617076" y="4277710"/>
            <a:chExt cx="1828800" cy="1899215"/>
          </a:xfrm>
        </p:grpSpPr>
        <p:sp>
          <p:nvSpPr>
            <p:cNvPr id="111" name="Google Shape;111;p7"/>
            <p:cNvSpPr/>
            <p:nvPr/>
          </p:nvSpPr>
          <p:spPr>
            <a:xfrm>
              <a:off x="2617076" y="4277710"/>
              <a:ext cx="1828800" cy="1899215"/>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12" name="Google Shape;112;p7"/>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113" name="Google Shape;113;p7"/>
            <p:cNvSpPr txBox="1"/>
            <p:nvPr/>
          </p:nvSpPr>
          <p:spPr>
            <a:xfrm>
              <a:off x="2847221" y="4343532"/>
              <a:ext cx="1544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Student (class)</a:t>
              </a:r>
              <a:endParaRPr sz="1400" b="1" i="0" u="none" strike="noStrike" cap="none">
                <a:solidFill>
                  <a:srgbClr val="000000"/>
                </a:solidFill>
                <a:latin typeface="Open Sans"/>
                <a:ea typeface="Open Sans"/>
                <a:cs typeface="Open Sans"/>
                <a:sym typeface="Open Sans"/>
              </a:endParaRPr>
            </a:p>
          </p:txBody>
        </p:sp>
        <p:sp>
          <p:nvSpPr>
            <p:cNvPr id="114" name="Google Shape;114;p7"/>
            <p:cNvSpPr txBox="1"/>
            <p:nvPr/>
          </p:nvSpPr>
          <p:spPr>
            <a:xfrm>
              <a:off x="2617076" y="4763246"/>
              <a:ext cx="1665466"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Attributes: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Name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Courses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Grades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Behaviour: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Printgrade()</a:t>
              </a: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8"/>
          <p:cNvSpPr txBox="1">
            <a:spLocks noGrp="1"/>
          </p:cNvSpPr>
          <p:nvPr>
            <p:ph type="title" idx="4294967295"/>
          </p:nvPr>
        </p:nvSpPr>
        <p:spPr>
          <a:xfrm>
            <a:off x="859852" y="901705"/>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Object-oriented programming</a:t>
            </a:r>
            <a:endParaRPr/>
          </a:p>
        </p:txBody>
      </p:sp>
      <p:sp>
        <p:nvSpPr>
          <p:cNvPr id="120" name="Google Shape;120;p8"/>
          <p:cNvSpPr txBox="1">
            <a:spLocks noGrp="1"/>
          </p:cNvSpPr>
          <p:nvPr>
            <p:ph type="body" idx="1"/>
          </p:nvPr>
        </p:nvSpPr>
        <p:spPr>
          <a:xfrm>
            <a:off x="859852" y="1809126"/>
            <a:ext cx="5100681"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Using this class, now we may create several objects. Object is an instance of class.</a:t>
            </a:r>
            <a:endParaRPr/>
          </a:p>
        </p:txBody>
      </p:sp>
      <p:sp>
        <p:nvSpPr>
          <p:cNvPr id="121" name="Google Shape;121;p8"/>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grpSp>
        <p:nvGrpSpPr>
          <p:cNvPr id="122" name="Google Shape;122;p8"/>
          <p:cNvGrpSpPr/>
          <p:nvPr/>
        </p:nvGrpSpPr>
        <p:grpSpPr>
          <a:xfrm>
            <a:off x="7516121" y="711701"/>
            <a:ext cx="903434" cy="903434"/>
            <a:chOff x="2594325" y="1627175"/>
            <a:chExt cx="440850" cy="440850"/>
          </a:xfrm>
        </p:grpSpPr>
        <p:sp>
          <p:nvSpPr>
            <p:cNvPr id="123" name="Google Shape;123;p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6" name="Google Shape;126;p8"/>
          <p:cNvGrpSpPr/>
          <p:nvPr/>
        </p:nvGrpSpPr>
        <p:grpSpPr>
          <a:xfrm>
            <a:off x="2117497" y="2709250"/>
            <a:ext cx="1673703" cy="1688100"/>
            <a:chOff x="2617076" y="4277709"/>
            <a:chExt cx="1673703" cy="1688100"/>
          </a:xfrm>
        </p:grpSpPr>
        <p:sp>
          <p:nvSpPr>
            <p:cNvPr id="127" name="Google Shape;127;p8"/>
            <p:cNvSpPr/>
            <p:nvPr/>
          </p:nvSpPr>
          <p:spPr>
            <a:xfrm>
              <a:off x="2617079" y="4277709"/>
              <a:ext cx="1673700" cy="1688100"/>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28" name="Google Shape;128;p8"/>
            <p:cNvCxnSpPr/>
            <p:nvPr/>
          </p:nvCxnSpPr>
          <p:spPr>
            <a:xfrm>
              <a:off x="2617076" y="4666592"/>
              <a:ext cx="1673629" cy="0"/>
            </a:xfrm>
            <a:prstGeom prst="straightConnector1">
              <a:avLst/>
            </a:prstGeom>
            <a:noFill/>
            <a:ln w="9525" cap="flat" cmpd="sng">
              <a:solidFill>
                <a:srgbClr val="0090FF"/>
              </a:solidFill>
              <a:prstDash val="solid"/>
              <a:round/>
              <a:headEnd type="none" w="sm" len="sm"/>
              <a:tailEnd type="none" w="sm" len="sm"/>
            </a:ln>
          </p:spPr>
        </p:cxnSp>
        <p:sp>
          <p:nvSpPr>
            <p:cNvPr id="129" name="Google Shape;129;p8"/>
            <p:cNvSpPr txBox="1"/>
            <p:nvPr/>
          </p:nvSpPr>
          <p:spPr>
            <a:xfrm>
              <a:off x="2889578" y="4343509"/>
              <a:ext cx="103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Student</a:t>
              </a:r>
              <a:endParaRPr sz="1400" b="1" i="0" u="none" strike="noStrike" cap="none">
                <a:solidFill>
                  <a:srgbClr val="000000"/>
                </a:solidFill>
                <a:latin typeface="Open Sans"/>
                <a:ea typeface="Open Sans"/>
                <a:cs typeface="Open Sans"/>
                <a:sym typeface="Open Sans"/>
              </a:endParaRPr>
            </a:p>
          </p:txBody>
        </p:sp>
        <p:sp>
          <p:nvSpPr>
            <p:cNvPr id="130" name="Google Shape;130;p8"/>
            <p:cNvSpPr txBox="1"/>
            <p:nvPr/>
          </p:nvSpPr>
          <p:spPr>
            <a:xfrm>
              <a:off x="2617076" y="4763246"/>
              <a:ext cx="117051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Name: Alice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Address: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Courses: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Grades:</a:t>
              </a:r>
              <a:endParaRPr sz="1400" b="0" i="0" u="none" strike="noStrike" cap="none">
                <a:solidFill>
                  <a:srgbClr val="000000"/>
                </a:solidFill>
                <a:latin typeface="Open Sans"/>
                <a:ea typeface="Open Sans"/>
                <a:cs typeface="Open Sans"/>
                <a:sym typeface="Open Sans"/>
              </a:endParaRPr>
            </a:p>
          </p:txBody>
        </p:sp>
      </p:grpSp>
      <p:grpSp>
        <p:nvGrpSpPr>
          <p:cNvPr id="131" name="Google Shape;131;p8"/>
          <p:cNvGrpSpPr/>
          <p:nvPr/>
        </p:nvGrpSpPr>
        <p:grpSpPr>
          <a:xfrm>
            <a:off x="3981450" y="2709096"/>
            <a:ext cx="1390803" cy="1688048"/>
            <a:chOff x="2617074" y="4277711"/>
            <a:chExt cx="1390803" cy="1439700"/>
          </a:xfrm>
        </p:grpSpPr>
        <p:sp>
          <p:nvSpPr>
            <p:cNvPr id="132" name="Google Shape;132;p8"/>
            <p:cNvSpPr/>
            <p:nvPr/>
          </p:nvSpPr>
          <p:spPr>
            <a:xfrm>
              <a:off x="2617077" y="4277711"/>
              <a:ext cx="1390800" cy="1439700"/>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33" name="Google Shape;133;p8"/>
            <p:cNvCxnSpPr/>
            <p:nvPr/>
          </p:nvCxnSpPr>
          <p:spPr>
            <a:xfrm>
              <a:off x="2617076" y="4666592"/>
              <a:ext cx="1390653" cy="0"/>
            </a:xfrm>
            <a:prstGeom prst="straightConnector1">
              <a:avLst/>
            </a:prstGeom>
            <a:noFill/>
            <a:ln w="9525" cap="flat" cmpd="sng">
              <a:solidFill>
                <a:srgbClr val="0090FF"/>
              </a:solidFill>
              <a:prstDash val="solid"/>
              <a:round/>
              <a:headEnd type="none" w="sm" len="sm"/>
              <a:tailEnd type="none" w="sm" len="sm"/>
            </a:ln>
          </p:spPr>
        </p:cxnSp>
        <p:sp>
          <p:nvSpPr>
            <p:cNvPr id="134" name="Google Shape;134;p8"/>
            <p:cNvSpPr txBox="1"/>
            <p:nvPr/>
          </p:nvSpPr>
          <p:spPr>
            <a:xfrm>
              <a:off x="2884167" y="4343509"/>
              <a:ext cx="903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Student</a:t>
              </a:r>
              <a:endParaRPr sz="1400" b="1" i="0" u="none" strike="noStrike" cap="none">
                <a:solidFill>
                  <a:srgbClr val="000000"/>
                </a:solidFill>
                <a:latin typeface="Open Sans"/>
                <a:ea typeface="Open Sans"/>
                <a:cs typeface="Open Sans"/>
                <a:sym typeface="Open Sans"/>
              </a:endParaRPr>
            </a:p>
          </p:txBody>
        </p:sp>
        <p:sp>
          <p:nvSpPr>
            <p:cNvPr id="135" name="Google Shape;135;p8"/>
            <p:cNvSpPr txBox="1"/>
            <p:nvPr/>
          </p:nvSpPr>
          <p:spPr>
            <a:xfrm>
              <a:off x="2617074" y="4763237"/>
              <a:ext cx="1117500" cy="910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Name: Bob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Address: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Courses: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Grades:</a:t>
              </a:r>
              <a:endParaRPr sz="1400" b="0" i="0" u="none" strike="noStrike" cap="none">
                <a:solidFill>
                  <a:srgbClr val="000000"/>
                </a:solidFill>
                <a:latin typeface="Open Sans"/>
                <a:ea typeface="Open Sans"/>
                <a:cs typeface="Open Sans"/>
                <a:sym typeface="Open Sans"/>
              </a:endParaRPr>
            </a:p>
          </p:txBody>
        </p:sp>
      </p:grpSp>
      <p:grpSp>
        <p:nvGrpSpPr>
          <p:cNvPr id="136" name="Google Shape;136;p8"/>
          <p:cNvGrpSpPr/>
          <p:nvPr/>
        </p:nvGrpSpPr>
        <p:grpSpPr>
          <a:xfrm>
            <a:off x="5681200" y="2709250"/>
            <a:ext cx="1390800" cy="1636800"/>
            <a:chOff x="2617066" y="4277709"/>
            <a:chExt cx="1390800" cy="1636800"/>
          </a:xfrm>
        </p:grpSpPr>
        <p:sp>
          <p:nvSpPr>
            <p:cNvPr id="137" name="Google Shape;137;p8"/>
            <p:cNvSpPr/>
            <p:nvPr/>
          </p:nvSpPr>
          <p:spPr>
            <a:xfrm>
              <a:off x="2617066" y="4277709"/>
              <a:ext cx="1390800" cy="1636800"/>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38" name="Google Shape;138;p8"/>
            <p:cNvCxnSpPr/>
            <p:nvPr/>
          </p:nvCxnSpPr>
          <p:spPr>
            <a:xfrm>
              <a:off x="2617076" y="4666592"/>
              <a:ext cx="1390653" cy="0"/>
            </a:xfrm>
            <a:prstGeom prst="straightConnector1">
              <a:avLst/>
            </a:prstGeom>
            <a:noFill/>
            <a:ln w="9525" cap="flat" cmpd="sng">
              <a:solidFill>
                <a:srgbClr val="0090FF"/>
              </a:solidFill>
              <a:prstDash val="solid"/>
              <a:round/>
              <a:headEnd type="none" w="sm" len="sm"/>
              <a:tailEnd type="none" w="sm" len="sm"/>
            </a:ln>
          </p:spPr>
        </p:cxnSp>
        <p:sp>
          <p:nvSpPr>
            <p:cNvPr id="139" name="Google Shape;139;p8"/>
            <p:cNvSpPr txBox="1"/>
            <p:nvPr/>
          </p:nvSpPr>
          <p:spPr>
            <a:xfrm>
              <a:off x="2812691" y="4343509"/>
              <a:ext cx="974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Student</a:t>
              </a:r>
              <a:endParaRPr sz="1400" b="1" i="0" u="none" strike="noStrike" cap="none">
                <a:solidFill>
                  <a:srgbClr val="000000"/>
                </a:solidFill>
                <a:latin typeface="Open Sans"/>
                <a:ea typeface="Open Sans"/>
                <a:cs typeface="Open Sans"/>
                <a:sym typeface="Open Sans"/>
              </a:endParaRPr>
            </a:p>
          </p:txBody>
        </p:sp>
        <p:sp>
          <p:nvSpPr>
            <p:cNvPr id="140" name="Google Shape;140;p8"/>
            <p:cNvSpPr txBox="1"/>
            <p:nvPr/>
          </p:nvSpPr>
          <p:spPr>
            <a:xfrm>
              <a:off x="2617076" y="4763246"/>
              <a:ext cx="1257075"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Name: David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Address: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Courses: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Grades:</a:t>
              </a: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title" idx="4294967295"/>
          </p:nvPr>
        </p:nvSpPr>
        <p:spPr>
          <a:xfrm>
            <a:off x="870871" y="1405268"/>
            <a:ext cx="5092200"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a:t>Features of object-oriented programming</a:t>
            </a:r>
            <a:endParaRPr/>
          </a:p>
        </p:txBody>
      </p:sp>
      <p:sp>
        <p:nvSpPr>
          <p:cNvPr id="146" name="Google Shape;146;p9"/>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
        <p:nvSpPr>
          <p:cNvPr id="147" name="Google Shape;147;p9"/>
          <p:cNvSpPr txBox="1">
            <a:spLocks noGrp="1"/>
          </p:cNvSpPr>
          <p:nvPr>
            <p:ph type="body" idx="1"/>
          </p:nvPr>
        </p:nvSpPr>
        <p:spPr>
          <a:xfrm>
            <a:off x="870870" y="2220408"/>
            <a:ext cx="4417737" cy="2004000"/>
          </a:xfrm>
          <a:prstGeom prst="rect">
            <a:avLst/>
          </a:prstGeom>
          <a:noFill/>
          <a:ln>
            <a:noFill/>
          </a:ln>
        </p:spPr>
        <p:txBody>
          <a:bodyPr spcFirstLastPara="1" wrap="square" lIns="91425" tIns="91425" rIns="91425" bIns="91425" anchor="t" anchorCtr="0">
            <a:noAutofit/>
          </a:bodyPr>
          <a:lstStyle/>
          <a:p>
            <a:pPr marL="457200" lvl="0" indent="-342900" algn="l" rtl="0">
              <a:lnSpc>
                <a:spcPct val="112000"/>
              </a:lnSpc>
              <a:spcBef>
                <a:spcPts val="600"/>
              </a:spcBef>
              <a:spcAft>
                <a:spcPts val="0"/>
              </a:spcAft>
              <a:buSzPts val="1800"/>
              <a:buChar char="▪"/>
            </a:pPr>
            <a:r>
              <a:rPr lang="en-MY" sz="1600"/>
              <a:t>Abstraction</a:t>
            </a:r>
            <a:endParaRPr/>
          </a:p>
          <a:p>
            <a:pPr marL="457200" lvl="0" indent="-342900" algn="l" rtl="0">
              <a:lnSpc>
                <a:spcPct val="112000"/>
              </a:lnSpc>
              <a:spcBef>
                <a:spcPts val="600"/>
              </a:spcBef>
              <a:spcAft>
                <a:spcPts val="0"/>
              </a:spcAft>
              <a:buSzPts val="1800"/>
              <a:buChar char="▪"/>
            </a:pPr>
            <a:r>
              <a:rPr lang="en-MY" sz="1600"/>
              <a:t>Inheritance</a:t>
            </a:r>
            <a:endParaRPr/>
          </a:p>
          <a:p>
            <a:pPr marL="457200" lvl="0" indent="-342900" algn="l" rtl="0">
              <a:lnSpc>
                <a:spcPct val="112000"/>
              </a:lnSpc>
              <a:spcBef>
                <a:spcPts val="600"/>
              </a:spcBef>
              <a:spcAft>
                <a:spcPts val="0"/>
              </a:spcAft>
              <a:buSzPts val="1800"/>
              <a:buChar char="▪"/>
            </a:pPr>
            <a:r>
              <a:rPr lang="en-MY" sz="1600"/>
              <a:t>Polymorphism</a:t>
            </a:r>
            <a:endParaRPr/>
          </a:p>
          <a:p>
            <a:pPr marL="457200" lvl="0" indent="-342900" algn="l" rtl="0">
              <a:lnSpc>
                <a:spcPct val="112000"/>
              </a:lnSpc>
              <a:spcBef>
                <a:spcPts val="600"/>
              </a:spcBef>
              <a:spcAft>
                <a:spcPts val="0"/>
              </a:spcAft>
              <a:buSzPts val="1800"/>
              <a:buChar char="▪"/>
            </a:pPr>
            <a:r>
              <a:rPr lang="en-MY" sz="1600"/>
              <a:t>Encapsulation</a:t>
            </a:r>
            <a:endParaRPr sz="1600"/>
          </a:p>
        </p:txBody>
      </p:sp>
      <p:grpSp>
        <p:nvGrpSpPr>
          <p:cNvPr id="148" name="Google Shape;148;p9"/>
          <p:cNvGrpSpPr/>
          <p:nvPr/>
        </p:nvGrpSpPr>
        <p:grpSpPr>
          <a:xfrm>
            <a:off x="7575991" y="663678"/>
            <a:ext cx="891426" cy="741590"/>
            <a:chOff x="1926350" y="995225"/>
            <a:chExt cx="428650" cy="356600"/>
          </a:xfrm>
        </p:grpSpPr>
        <p:sp>
          <p:nvSpPr>
            <p:cNvPr id="149" name="Google Shape;149;p9"/>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9"/>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9"/>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9"/>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Abstraction</a:t>
            </a:r>
            <a:endParaRPr/>
          </a:p>
        </p:txBody>
      </p:sp>
      <p:sp>
        <p:nvSpPr>
          <p:cNvPr id="158" name="Google Shape;158;p10"/>
          <p:cNvSpPr txBox="1">
            <a:spLocks noGrp="1"/>
          </p:cNvSpPr>
          <p:nvPr>
            <p:ph type="body" idx="1"/>
          </p:nvPr>
        </p:nvSpPr>
        <p:spPr>
          <a:xfrm>
            <a:off x="859852" y="2024490"/>
            <a:ext cx="6929481"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Abstraction is a concept in which complex details are hidden from the user.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Example:  It is enough for the driver to understand the use of  the accelerator and brakes, etc. He need not know the inner mechanism behind the accelerator and brakes.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This is hiding the details that are not essential. Data abstraction, therefore reduces the complexity and time.</a:t>
            </a:r>
            <a:endParaRPr/>
          </a:p>
        </p:txBody>
      </p:sp>
      <p:sp>
        <p:nvSpPr>
          <p:cNvPr id="159" name="Google Shape;159;p10"/>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grpSp>
        <p:nvGrpSpPr>
          <p:cNvPr id="160" name="Google Shape;160;p10"/>
          <p:cNvGrpSpPr/>
          <p:nvPr/>
        </p:nvGrpSpPr>
        <p:grpSpPr>
          <a:xfrm>
            <a:off x="7516121" y="711701"/>
            <a:ext cx="903434" cy="903434"/>
            <a:chOff x="2594325" y="1627175"/>
            <a:chExt cx="440850" cy="440850"/>
          </a:xfrm>
        </p:grpSpPr>
        <p:sp>
          <p:nvSpPr>
            <p:cNvPr id="161" name="Google Shape;161;p10"/>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10"/>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10"/>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1"/>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Abstraction</a:t>
            </a:r>
            <a:endParaRPr/>
          </a:p>
        </p:txBody>
      </p:sp>
      <p:sp>
        <p:nvSpPr>
          <p:cNvPr id="169" name="Google Shape;169;p11"/>
          <p:cNvSpPr txBox="1">
            <a:spLocks noGrp="1"/>
          </p:cNvSpPr>
          <p:nvPr>
            <p:ph type="body" idx="1"/>
          </p:nvPr>
        </p:nvSpPr>
        <p:spPr>
          <a:xfrm>
            <a:off x="859852" y="2024490"/>
            <a:ext cx="6929481"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object-oriented programming, the internal details of an object are hidden.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The user needs to know the attributes and methods of an object to use them.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He need not know how a method is implemented. This feature helps in reuse and maintenance of program code. </a:t>
            </a:r>
            <a:endParaRPr/>
          </a:p>
        </p:txBody>
      </p:sp>
      <p:sp>
        <p:nvSpPr>
          <p:cNvPr id="170" name="Google Shape;170;p11"/>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grpSp>
        <p:nvGrpSpPr>
          <p:cNvPr id="171" name="Google Shape;171;p11"/>
          <p:cNvGrpSpPr/>
          <p:nvPr/>
        </p:nvGrpSpPr>
        <p:grpSpPr>
          <a:xfrm>
            <a:off x="7516121" y="711701"/>
            <a:ext cx="903434" cy="903434"/>
            <a:chOff x="2594325" y="1627175"/>
            <a:chExt cx="440850" cy="440850"/>
          </a:xfrm>
        </p:grpSpPr>
        <p:sp>
          <p:nvSpPr>
            <p:cNvPr id="172" name="Google Shape;172;p11"/>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1"/>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11"/>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2"/>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a:t>
            </a:r>
            <a:endParaRPr/>
          </a:p>
        </p:txBody>
      </p:sp>
      <p:sp>
        <p:nvSpPr>
          <p:cNvPr id="180" name="Google Shape;180;p12"/>
          <p:cNvSpPr txBox="1">
            <a:spLocks noGrp="1"/>
          </p:cNvSpPr>
          <p:nvPr>
            <p:ph type="body" idx="1"/>
          </p:nvPr>
        </p:nvSpPr>
        <p:spPr>
          <a:xfrm>
            <a:off x="859850" y="1718975"/>
            <a:ext cx="7477200" cy="2309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 child inherits the properties of parents.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Similarly, classes also acquire properties of other classes. This is called inheritance.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Consider the parent class animals and child classes, reptiles, birds, amphibians and mammals.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Child classes inherit all the properties from the parent class.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addition to the attributes and behaviours acquired from the parent class, each child class possesses its own attributes and behaviours.</a:t>
            </a:r>
            <a:endParaRPr/>
          </a:p>
        </p:txBody>
      </p:sp>
      <p:sp>
        <p:nvSpPr>
          <p:cNvPr id="181" name="Google Shape;181;p12"/>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grpSp>
        <p:nvGrpSpPr>
          <p:cNvPr id="182" name="Google Shape;182;p12"/>
          <p:cNvGrpSpPr/>
          <p:nvPr/>
        </p:nvGrpSpPr>
        <p:grpSpPr>
          <a:xfrm>
            <a:off x="7516121" y="711701"/>
            <a:ext cx="903434" cy="903434"/>
            <a:chOff x="2594325" y="1627175"/>
            <a:chExt cx="440850" cy="440850"/>
          </a:xfrm>
        </p:grpSpPr>
        <p:sp>
          <p:nvSpPr>
            <p:cNvPr id="183" name="Google Shape;183;p12"/>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2"/>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2"/>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3"/>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a:t>
            </a:r>
            <a:endParaRPr/>
          </a:p>
        </p:txBody>
      </p:sp>
      <p:sp>
        <p:nvSpPr>
          <p:cNvPr id="191" name="Google Shape;191;p13"/>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grpSp>
        <p:nvGrpSpPr>
          <p:cNvPr id="192" name="Google Shape;192;p13"/>
          <p:cNvGrpSpPr/>
          <p:nvPr/>
        </p:nvGrpSpPr>
        <p:grpSpPr>
          <a:xfrm>
            <a:off x="7516121" y="711701"/>
            <a:ext cx="903434" cy="903434"/>
            <a:chOff x="2594325" y="1627175"/>
            <a:chExt cx="440850" cy="440850"/>
          </a:xfrm>
        </p:grpSpPr>
        <p:sp>
          <p:nvSpPr>
            <p:cNvPr id="193" name="Google Shape;193;p13"/>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13"/>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13"/>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6" name="Google Shape;196;p13"/>
          <p:cNvGrpSpPr/>
          <p:nvPr/>
        </p:nvGrpSpPr>
        <p:grpSpPr>
          <a:xfrm>
            <a:off x="1476457" y="2352016"/>
            <a:ext cx="6043131" cy="1891836"/>
            <a:chOff x="1100511" y="7507480"/>
            <a:chExt cx="5802334" cy="1674488"/>
          </a:xfrm>
        </p:grpSpPr>
        <p:grpSp>
          <p:nvGrpSpPr>
            <p:cNvPr id="197" name="Google Shape;197;p13"/>
            <p:cNvGrpSpPr/>
            <p:nvPr/>
          </p:nvGrpSpPr>
          <p:grpSpPr>
            <a:xfrm>
              <a:off x="3093697" y="7507480"/>
              <a:ext cx="1828800" cy="393347"/>
              <a:chOff x="2617076" y="4978690"/>
              <a:chExt cx="1828800" cy="393347"/>
            </a:xfrm>
          </p:grpSpPr>
          <p:sp>
            <p:nvSpPr>
              <p:cNvPr id="198" name="Google Shape;198;p13"/>
              <p:cNvSpPr/>
              <p:nvPr/>
            </p:nvSpPr>
            <p:spPr>
              <a:xfrm>
                <a:off x="2617076" y="4978690"/>
                <a:ext cx="1828800" cy="393347"/>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9" name="Google Shape;199;p13"/>
              <p:cNvSpPr txBox="1"/>
              <p:nvPr/>
            </p:nvSpPr>
            <p:spPr>
              <a:xfrm>
                <a:off x="3109725" y="5044497"/>
                <a:ext cx="8210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Animal</a:t>
                </a:r>
                <a:endParaRPr sz="1400" b="1" i="0" u="none" strike="noStrike" cap="none">
                  <a:solidFill>
                    <a:srgbClr val="000000"/>
                  </a:solidFill>
                  <a:latin typeface="Open Sans"/>
                  <a:ea typeface="Open Sans"/>
                  <a:cs typeface="Open Sans"/>
                  <a:sym typeface="Open Sans"/>
                </a:endParaRPr>
              </a:p>
            </p:txBody>
          </p:sp>
        </p:grpSp>
        <p:grpSp>
          <p:nvGrpSpPr>
            <p:cNvPr id="200" name="Google Shape;200;p13"/>
            <p:cNvGrpSpPr/>
            <p:nvPr/>
          </p:nvGrpSpPr>
          <p:grpSpPr>
            <a:xfrm>
              <a:off x="1100511" y="8808361"/>
              <a:ext cx="1159804" cy="373607"/>
              <a:chOff x="2617076" y="4277711"/>
              <a:chExt cx="1577296" cy="373607"/>
            </a:xfrm>
          </p:grpSpPr>
          <p:sp>
            <p:nvSpPr>
              <p:cNvPr id="201" name="Google Shape;201;p13"/>
              <p:cNvSpPr/>
              <p:nvPr/>
            </p:nvSpPr>
            <p:spPr>
              <a:xfrm>
                <a:off x="2617076" y="4277711"/>
                <a:ext cx="1577296" cy="373586"/>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2" name="Google Shape;202;p13"/>
              <p:cNvSpPr txBox="1"/>
              <p:nvPr/>
            </p:nvSpPr>
            <p:spPr>
              <a:xfrm>
                <a:off x="2844579" y="4343518"/>
                <a:ext cx="1349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Reptiles</a:t>
                </a:r>
                <a:endParaRPr sz="1400" b="1" i="0" u="none" strike="noStrike" cap="none">
                  <a:solidFill>
                    <a:srgbClr val="000000"/>
                  </a:solidFill>
                  <a:latin typeface="Open Sans"/>
                  <a:ea typeface="Open Sans"/>
                  <a:cs typeface="Open Sans"/>
                  <a:sym typeface="Open Sans"/>
                </a:endParaRPr>
              </a:p>
            </p:txBody>
          </p:sp>
        </p:grpSp>
        <p:grpSp>
          <p:nvGrpSpPr>
            <p:cNvPr id="203" name="Google Shape;203;p13"/>
            <p:cNvGrpSpPr/>
            <p:nvPr/>
          </p:nvGrpSpPr>
          <p:grpSpPr>
            <a:xfrm>
              <a:off x="2545199" y="8808361"/>
              <a:ext cx="1344737" cy="373586"/>
              <a:chOff x="2617076" y="4277711"/>
              <a:chExt cx="1828800" cy="373586"/>
            </a:xfrm>
          </p:grpSpPr>
          <p:sp>
            <p:nvSpPr>
              <p:cNvPr id="204" name="Google Shape;204;p13"/>
              <p:cNvSpPr/>
              <p:nvPr/>
            </p:nvSpPr>
            <p:spPr>
              <a:xfrm>
                <a:off x="2617076" y="4277711"/>
                <a:ext cx="1828800" cy="373586"/>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5" name="Google Shape;205;p13"/>
              <p:cNvSpPr txBox="1"/>
              <p:nvPr/>
            </p:nvSpPr>
            <p:spPr>
              <a:xfrm>
                <a:off x="2717802" y="4343520"/>
                <a:ext cx="17095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Amphibians</a:t>
                </a:r>
                <a:endParaRPr sz="1400" b="1" i="0" u="none" strike="noStrike" cap="none">
                  <a:solidFill>
                    <a:srgbClr val="000000"/>
                  </a:solidFill>
                  <a:latin typeface="Open Sans"/>
                  <a:ea typeface="Open Sans"/>
                  <a:cs typeface="Open Sans"/>
                  <a:sym typeface="Open Sans"/>
                </a:endParaRPr>
              </a:p>
            </p:txBody>
          </p:sp>
        </p:grpSp>
        <p:grpSp>
          <p:nvGrpSpPr>
            <p:cNvPr id="206" name="Google Shape;206;p13"/>
            <p:cNvGrpSpPr/>
            <p:nvPr/>
          </p:nvGrpSpPr>
          <p:grpSpPr>
            <a:xfrm>
              <a:off x="4094733" y="8808361"/>
              <a:ext cx="1247829" cy="373586"/>
              <a:chOff x="2405744" y="4277711"/>
              <a:chExt cx="1697008" cy="373586"/>
            </a:xfrm>
          </p:grpSpPr>
          <p:sp>
            <p:nvSpPr>
              <p:cNvPr id="207" name="Google Shape;207;p13"/>
              <p:cNvSpPr/>
              <p:nvPr/>
            </p:nvSpPr>
            <p:spPr>
              <a:xfrm>
                <a:off x="2405744" y="4277711"/>
                <a:ext cx="1697008" cy="373586"/>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8" name="Google Shape;208;p13"/>
              <p:cNvSpPr txBox="1"/>
              <p:nvPr/>
            </p:nvSpPr>
            <p:spPr>
              <a:xfrm>
                <a:off x="2790649" y="4343520"/>
                <a:ext cx="87681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Birds</a:t>
                </a:r>
                <a:endParaRPr sz="1400" b="1" i="0" u="none" strike="noStrike" cap="none">
                  <a:solidFill>
                    <a:srgbClr val="000000"/>
                  </a:solidFill>
                  <a:latin typeface="Open Sans"/>
                  <a:ea typeface="Open Sans"/>
                  <a:cs typeface="Open Sans"/>
                  <a:sym typeface="Open Sans"/>
                </a:endParaRPr>
              </a:p>
            </p:txBody>
          </p:sp>
        </p:grpSp>
        <p:grpSp>
          <p:nvGrpSpPr>
            <p:cNvPr id="209" name="Google Shape;209;p13"/>
            <p:cNvGrpSpPr/>
            <p:nvPr/>
          </p:nvGrpSpPr>
          <p:grpSpPr>
            <a:xfrm>
              <a:off x="5558108" y="8808361"/>
              <a:ext cx="1344737" cy="373586"/>
              <a:chOff x="2617076" y="4277711"/>
              <a:chExt cx="1828800" cy="373586"/>
            </a:xfrm>
          </p:grpSpPr>
          <p:sp>
            <p:nvSpPr>
              <p:cNvPr id="210" name="Google Shape;210;p13"/>
              <p:cNvSpPr/>
              <p:nvPr/>
            </p:nvSpPr>
            <p:spPr>
              <a:xfrm>
                <a:off x="2617076" y="4277711"/>
                <a:ext cx="1828800" cy="373586"/>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1" name="Google Shape;211;p13"/>
              <p:cNvSpPr txBox="1"/>
              <p:nvPr/>
            </p:nvSpPr>
            <p:spPr>
              <a:xfrm>
                <a:off x="2867352" y="4343520"/>
                <a:ext cx="145451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Mammals</a:t>
                </a:r>
                <a:endParaRPr sz="1400" b="1" i="0" u="none" strike="noStrike" cap="none">
                  <a:solidFill>
                    <a:srgbClr val="000000"/>
                  </a:solidFill>
                  <a:latin typeface="Open Sans"/>
                  <a:ea typeface="Open Sans"/>
                  <a:cs typeface="Open Sans"/>
                  <a:sym typeface="Open Sans"/>
                </a:endParaRPr>
              </a:p>
            </p:txBody>
          </p:sp>
        </p:grpSp>
        <p:cxnSp>
          <p:nvCxnSpPr>
            <p:cNvPr id="212" name="Google Shape;212;p13"/>
            <p:cNvCxnSpPr/>
            <p:nvPr/>
          </p:nvCxnSpPr>
          <p:spPr>
            <a:xfrm rot="10800000" flipH="1">
              <a:off x="1756881" y="7898720"/>
              <a:ext cx="1484619" cy="909643"/>
            </a:xfrm>
            <a:prstGeom prst="straightConnector1">
              <a:avLst/>
            </a:prstGeom>
            <a:noFill/>
            <a:ln w="9525" cap="flat" cmpd="sng">
              <a:solidFill>
                <a:srgbClr val="347EB8"/>
              </a:solidFill>
              <a:prstDash val="solid"/>
              <a:round/>
              <a:headEnd type="none" w="sm" len="sm"/>
              <a:tailEnd type="triangle" w="med" len="med"/>
            </a:ln>
          </p:spPr>
        </p:cxnSp>
        <p:cxnSp>
          <p:nvCxnSpPr>
            <p:cNvPr id="213" name="Google Shape;213;p13"/>
            <p:cNvCxnSpPr/>
            <p:nvPr/>
          </p:nvCxnSpPr>
          <p:spPr>
            <a:xfrm rot="10800000" flipH="1">
              <a:off x="3241500" y="7881064"/>
              <a:ext cx="344846" cy="912001"/>
            </a:xfrm>
            <a:prstGeom prst="straightConnector1">
              <a:avLst/>
            </a:prstGeom>
            <a:noFill/>
            <a:ln w="9525" cap="flat" cmpd="sng">
              <a:solidFill>
                <a:srgbClr val="347EB8"/>
              </a:solidFill>
              <a:prstDash val="solid"/>
              <a:round/>
              <a:headEnd type="none" w="sm" len="sm"/>
              <a:tailEnd type="triangle" w="med" len="med"/>
            </a:ln>
          </p:spPr>
        </p:cxnSp>
        <p:cxnSp>
          <p:nvCxnSpPr>
            <p:cNvPr id="214" name="Google Shape;214;p13"/>
            <p:cNvCxnSpPr/>
            <p:nvPr/>
          </p:nvCxnSpPr>
          <p:spPr>
            <a:xfrm rot="10800000">
              <a:off x="4105482" y="7911909"/>
              <a:ext cx="593194" cy="910444"/>
            </a:xfrm>
            <a:prstGeom prst="straightConnector1">
              <a:avLst/>
            </a:prstGeom>
            <a:noFill/>
            <a:ln w="9525" cap="flat" cmpd="sng">
              <a:solidFill>
                <a:srgbClr val="347EB8"/>
              </a:solidFill>
              <a:prstDash val="solid"/>
              <a:round/>
              <a:headEnd type="none" w="sm" len="sm"/>
              <a:tailEnd type="triangle" w="med" len="med"/>
            </a:ln>
          </p:spPr>
        </p:cxnSp>
        <p:cxnSp>
          <p:nvCxnSpPr>
            <p:cNvPr id="215" name="Google Shape;215;p13"/>
            <p:cNvCxnSpPr>
              <a:stCxn id="210" idx="0"/>
            </p:cNvCxnSpPr>
            <p:nvPr/>
          </p:nvCxnSpPr>
          <p:spPr>
            <a:xfrm rot="10800000">
              <a:off x="4572977" y="7911961"/>
              <a:ext cx="1657500" cy="896400"/>
            </a:xfrm>
            <a:prstGeom prst="straightConnector1">
              <a:avLst/>
            </a:prstGeom>
            <a:noFill/>
            <a:ln w="9525" cap="flat" cmpd="sng">
              <a:solidFill>
                <a:srgbClr val="347EB8"/>
              </a:solidFill>
              <a:prstDash val="solid"/>
              <a:round/>
              <a:headEnd type="none" w="sm" len="sm"/>
              <a:tailEnd type="triangle" w="med" len="med"/>
            </a:ln>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a:t>
            </a:r>
            <a:endParaRPr/>
          </a:p>
        </p:txBody>
      </p:sp>
      <p:sp>
        <p:nvSpPr>
          <p:cNvPr id="221" name="Google Shape;221;p14"/>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grpSp>
        <p:nvGrpSpPr>
          <p:cNvPr id="222" name="Google Shape;222;p14"/>
          <p:cNvGrpSpPr/>
          <p:nvPr/>
        </p:nvGrpSpPr>
        <p:grpSpPr>
          <a:xfrm>
            <a:off x="7516121" y="711701"/>
            <a:ext cx="903434" cy="903434"/>
            <a:chOff x="2594325" y="1627175"/>
            <a:chExt cx="440850" cy="440850"/>
          </a:xfrm>
        </p:grpSpPr>
        <p:sp>
          <p:nvSpPr>
            <p:cNvPr id="223" name="Google Shape;223;p14"/>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14"/>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4"/>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6" name="Google Shape;226;p14"/>
          <p:cNvGrpSpPr/>
          <p:nvPr/>
        </p:nvGrpSpPr>
        <p:grpSpPr>
          <a:xfrm>
            <a:off x="3503631" y="1931487"/>
            <a:ext cx="4681773" cy="2500312"/>
            <a:chOff x="1610397" y="1782437"/>
            <a:chExt cx="4681773" cy="2500312"/>
          </a:xfrm>
        </p:grpSpPr>
        <p:grpSp>
          <p:nvGrpSpPr>
            <p:cNvPr id="227" name="Google Shape;227;p14"/>
            <p:cNvGrpSpPr/>
            <p:nvPr/>
          </p:nvGrpSpPr>
          <p:grpSpPr>
            <a:xfrm>
              <a:off x="2919036" y="1782437"/>
              <a:ext cx="1828800" cy="793313"/>
              <a:chOff x="2617076" y="4277710"/>
              <a:chExt cx="1828800" cy="793313"/>
            </a:xfrm>
          </p:grpSpPr>
          <p:sp>
            <p:nvSpPr>
              <p:cNvPr id="228" name="Google Shape;228;p14"/>
              <p:cNvSpPr/>
              <p:nvPr/>
            </p:nvSpPr>
            <p:spPr>
              <a:xfrm>
                <a:off x="2617076" y="4277710"/>
                <a:ext cx="1828800" cy="793313"/>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29" name="Google Shape;229;p14"/>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230" name="Google Shape;230;p14"/>
              <p:cNvSpPr txBox="1"/>
              <p:nvPr/>
            </p:nvSpPr>
            <p:spPr>
              <a:xfrm>
                <a:off x="3109732" y="4343523"/>
                <a:ext cx="903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Class A</a:t>
                </a:r>
                <a:endParaRPr sz="1400" b="1" i="0" u="none" strike="noStrike" cap="none">
                  <a:solidFill>
                    <a:srgbClr val="000000"/>
                  </a:solidFill>
                  <a:latin typeface="Open Sans"/>
                  <a:ea typeface="Open Sans"/>
                  <a:cs typeface="Open Sans"/>
                  <a:sym typeface="Open Sans"/>
                </a:endParaRPr>
              </a:p>
            </p:txBody>
          </p:sp>
          <p:sp>
            <p:nvSpPr>
              <p:cNvPr id="231" name="Google Shape;231;p14"/>
              <p:cNvSpPr txBox="1"/>
              <p:nvPr/>
            </p:nvSpPr>
            <p:spPr>
              <a:xfrm>
                <a:off x="2617076" y="4763246"/>
                <a:ext cx="16654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Method_A()</a:t>
                </a:r>
                <a:endParaRPr sz="1400" b="0" i="0" u="none" strike="noStrike" cap="none">
                  <a:solidFill>
                    <a:srgbClr val="000000"/>
                  </a:solidFill>
                  <a:latin typeface="Open Sans"/>
                  <a:ea typeface="Open Sans"/>
                  <a:cs typeface="Open Sans"/>
                  <a:sym typeface="Open Sans"/>
                </a:endParaRPr>
              </a:p>
            </p:txBody>
          </p:sp>
        </p:grpSp>
        <p:grpSp>
          <p:nvGrpSpPr>
            <p:cNvPr id="232" name="Google Shape;232;p14"/>
            <p:cNvGrpSpPr/>
            <p:nvPr/>
          </p:nvGrpSpPr>
          <p:grpSpPr>
            <a:xfrm>
              <a:off x="1610397" y="3273993"/>
              <a:ext cx="1828800" cy="1008756"/>
              <a:chOff x="2617076" y="4277710"/>
              <a:chExt cx="1828800" cy="1008756"/>
            </a:xfrm>
          </p:grpSpPr>
          <p:sp>
            <p:nvSpPr>
              <p:cNvPr id="233" name="Google Shape;233;p14"/>
              <p:cNvSpPr/>
              <p:nvPr/>
            </p:nvSpPr>
            <p:spPr>
              <a:xfrm>
                <a:off x="2617076" y="4277710"/>
                <a:ext cx="1828800"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34" name="Google Shape;234;p14"/>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235" name="Google Shape;235;p14"/>
              <p:cNvSpPr txBox="1"/>
              <p:nvPr/>
            </p:nvSpPr>
            <p:spPr>
              <a:xfrm>
                <a:off x="3109719" y="4343517"/>
                <a:ext cx="903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Class B</a:t>
                </a:r>
                <a:endParaRPr sz="1400" b="1" i="0" u="none" strike="noStrike" cap="none">
                  <a:solidFill>
                    <a:srgbClr val="000000"/>
                  </a:solidFill>
                  <a:latin typeface="Open Sans"/>
                  <a:ea typeface="Open Sans"/>
                  <a:cs typeface="Open Sans"/>
                  <a:sym typeface="Open Sans"/>
                </a:endParaRPr>
              </a:p>
            </p:txBody>
          </p:sp>
          <p:sp>
            <p:nvSpPr>
              <p:cNvPr id="236" name="Google Shape;236;p14"/>
              <p:cNvSpPr txBox="1"/>
              <p:nvPr/>
            </p:nvSpPr>
            <p:spPr>
              <a:xfrm>
                <a:off x="2617076" y="4763246"/>
                <a:ext cx="16654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Method_A()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Method_B()</a:t>
                </a:r>
                <a:endParaRPr sz="1400" b="0" i="0" u="none" strike="noStrike" cap="none">
                  <a:solidFill>
                    <a:srgbClr val="000000"/>
                  </a:solidFill>
                  <a:latin typeface="Open Sans"/>
                  <a:ea typeface="Open Sans"/>
                  <a:cs typeface="Open Sans"/>
                  <a:sym typeface="Open Sans"/>
                </a:endParaRPr>
              </a:p>
            </p:txBody>
          </p:sp>
        </p:grpSp>
        <p:grpSp>
          <p:nvGrpSpPr>
            <p:cNvPr id="237" name="Google Shape;237;p14"/>
            <p:cNvGrpSpPr/>
            <p:nvPr/>
          </p:nvGrpSpPr>
          <p:grpSpPr>
            <a:xfrm>
              <a:off x="4463370" y="3273993"/>
              <a:ext cx="1828800" cy="1008756"/>
              <a:chOff x="2617076" y="4277710"/>
              <a:chExt cx="1828800" cy="1008756"/>
            </a:xfrm>
          </p:grpSpPr>
          <p:sp>
            <p:nvSpPr>
              <p:cNvPr id="238" name="Google Shape;238;p14"/>
              <p:cNvSpPr/>
              <p:nvPr/>
            </p:nvSpPr>
            <p:spPr>
              <a:xfrm>
                <a:off x="2617076" y="4277710"/>
                <a:ext cx="1828800"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39" name="Google Shape;239;p14"/>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240" name="Google Shape;240;p14"/>
              <p:cNvSpPr txBox="1"/>
              <p:nvPr/>
            </p:nvSpPr>
            <p:spPr>
              <a:xfrm>
                <a:off x="3109722" y="4343517"/>
                <a:ext cx="903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Class C</a:t>
                </a:r>
                <a:endParaRPr sz="1400" b="1" i="0" u="none" strike="noStrike" cap="none">
                  <a:solidFill>
                    <a:srgbClr val="000000"/>
                  </a:solidFill>
                  <a:latin typeface="Open Sans"/>
                  <a:ea typeface="Open Sans"/>
                  <a:cs typeface="Open Sans"/>
                  <a:sym typeface="Open Sans"/>
                </a:endParaRPr>
              </a:p>
            </p:txBody>
          </p:sp>
          <p:sp>
            <p:nvSpPr>
              <p:cNvPr id="241" name="Google Shape;241;p14"/>
              <p:cNvSpPr txBox="1"/>
              <p:nvPr/>
            </p:nvSpPr>
            <p:spPr>
              <a:xfrm>
                <a:off x="2617076" y="4763246"/>
                <a:ext cx="16654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Method_A()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Method_C()</a:t>
                </a:r>
                <a:endParaRPr sz="1400" b="0" i="0" u="none" strike="noStrike" cap="none">
                  <a:solidFill>
                    <a:srgbClr val="000000"/>
                  </a:solidFill>
                  <a:latin typeface="Open Sans"/>
                  <a:ea typeface="Open Sans"/>
                  <a:cs typeface="Open Sans"/>
                  <a:sym typeface="Open Sans"/>
                </a:endParaRPr>
              </a:p>
            </p:txBody>
          </p:sp>
        </p:grpSp>
        <p:cxnSp>
          <p:nvCxnSpPr>
            <p:cNvPr id="242" name="Google Shape;242;p14"/>
            <p:cNvCxnSpPr/>
            <p:nvPr/>
          </p:nvCxnSpPr>
          <p:spPr>
            <a:xfrm rot="10800000" flipH="1">
              <a:off x="2619910" y="2591047"/>
              <a:ext cx="716638" cy="706653"/>
            </a:xfrm>
            <a:prstGeom prst="straightConnector1">
              <a:avLst/>
            </a:prstGeom>
            <a:noFill/>
            <a:ln w="9525" cap="flat" cmpd="sng">
              <a:solidFill>
                <a:srgbClr val="347EB8"/>
              </a:solidFill>
              <a:prstDash val="solid"/>
              <a:round/>
              <a:headEnd type="none" w="sm" len="sm"/>
              <a:tailEnd type="triangle" w="med" len="med"/>
            </a:ln>
          </p:spPr>
        </p:cxnSp>
        <p:cxnSp>
          <p:nvCxnSpPr>
            <p:cNvPr id="243" name="Google Shape;243;p14"/>
            <p:cNvCxnSpPr/>
            <p:nvPr/>
          </p:nvCxnSpPr>
          <p:spPr>
            <a:xfrm rot="10800000">
              <a:off x="4223127" y="2575751"/>
              <a:ext cx="937902" cy="698242"/>
            </a:xfrm>
            <a:prstGeom prst="straightConnector1">
              <a:avLst/>
            </a:prstGeom>
            <a:noFill/>
            <a:ln w="9525" cap="flat" cmpd="sng">
              <a:solidFill>
                <a:srgbClr val="347EB8"/>
              </a:solidFill>
              <a:prstDash val="solid"/>
              <a:round/>
              <a:headEnd type="none" w="sm" len="sm"/>
              <a:tailEnd type="triangle" w="med" len="med"/>
            </a:ln>
          </p:spPr>
        </p:cxnSp>
      </p:grpSp>
      <p:sp>
        <p:nvSpPr>
          <p:cNvPr id="244" name="Google Shape;244;p14"/>
          <p:cNvSpPr txBox="1">
            <a:spLocks noGrp="1"/>
          </p:cNvSpPr>
          <p:nvPr>
            <p:ph type="body" idx="1"/>
          </p:nvPr>
        </p:nvSpPr>
        <p:spPr>
          <a:xfrm>
            <a:off x="859852" y="2024490"/>
            <a:ext cx="2480445" cy="2004000"/>
          </a:xfrm>
          <a:prstGeom prst="rect">
            <a:avLst/>
          </a:prstGeom>
          <a:noFill/>
          <a:ln>
            <a:noFill/>
          </a:ln>
        </p:spPr>
        <p:txBody>
          <a:bodyPr spcFirstLastPara="1" wrap="square" lIns="91425" tIns="91425" rIns="91425" bIns="91425" anchor="t" anchorCtr="0">
            <a:noAutofit/>
          </a:bodyPr>
          <a:lstStyle/>
          <a:p>
            <a:pPr marL="101600" lvl="0" indent="0" algn="l" rtl="0">
              <a:lnSpc>
                <a:spcPct val="115000"/>
              </a:lnSpc>
              <a:spcBef>
                <a:spcPts val="600"/>
              </a:spcBef>
              <a:spcAft>
                <a:spcPts val="0"/>
              </a:spcAft>
              <a:buSzPts val="2000"/>
              <a:buNone/>
            </a:pPr>
            <a:r>
              <a:rPr lang="en-MY" sz="1600">
                <a:solidFill>
                  <a:srgbClr val="000000"/>
                </a:solidFill>
                <a:latin typeface="Open Sans"/>
                <a:ea typeface="Open Sans"/>
                <a:cs typeface="Open Sans"/>
                <a:sym typeface="Open Sans"/>
              </a:rPr>
              <a:t>Consider three classes: A, B and C. </a:t>
            </a:r>
            <a:endParaRPr/>
          </a:p>
          <a:p>
            <a:pPr marL="101600" lvl="0" indent="0" algn="l" rtl="0">
              <a:lnSpc>
                <a:spcPct val="115000"/>
              </a:lnSpc>
              <a:spcBef>
                <a:spcPts val="600"/>
              </a:spcBef>
              <a:spcAft>
                <a:spcPts val="0"/>
              </a:spcAft>
              <a:buSzPts val="2000"/>
              <a:buNone/>
            </a:pPr>
            <a:r>
              <a:rPr lang="en-MY" sz="1600">
                <a:solidFill>
                  <a:srgbClr val="000000"/>
                </a:solidFill>
                <a:latin typeface="Open Sans"/>
                <a:ea typeface="Open Sans"/>
                <a:cs typeface="Open Sans"/>
                <a:sym typeface="Open Sans"/>
              </a:rPr>
              <a:t>Class B and </a:t>
            </a:r>
            <a:r>
              <a:rPr lang="en-MY" sz="1600">
                <a:solidFill>
                  <a:srgbClr val="000000"/>
                </a:solidFill>
              </a:rPr>
              <a:t>C</a:t>
            </a:r>
            <a:r>
              <a:rPr lang="en-MY" sz="1600">
                <a:solidFill>
                  <a:srgbClr val="000000"/>
                </a:solidFill>
                <a:latin typeface="Open Sans"/>
                <a:ea typeface="Open Sans"/>
                <a:cs typeface="Open Sans"/>
                <a:sym typeface="Open Sans"/>
              </a:rPr>
              <a:t>lass C are child classes. </a:t>
            </a:r>
            <a:endParaRPr/>
          </a:p>
          <a:p>
            <a:pPr marL="101600" lvl="0" indent="0" algn="l" rtl="0">
              <a:lnSpc>
                <a:spcPct val="115000"/>
              </a:lnSpc>
              <a:spcBef>
                <a:spcPts val="600"/>
              </a:spcBef>
              <a:spcAft>
                <a:spcPts val="0"/>
              </a:spcAft>
              <a:buSzPts val="2000"/>
              <a:buNone/>
            </a:pPr>
            <a:r>
              <a:rPr lang="en-MY" sz="1600">
                <a:solidFill>
                  <a:srgbClr val="000000"/>
                </a:solidFill>
                <a:latin typeface="Open Sans"/>
                <a:ea typeface="Open Sans"/>
                <a:cs typeface="Open Sans"/>
                <a:sym typeface="Open Sans"/>
              </a:rPr>
              <a:t>Class A is the parent class.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5"/>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Polymorphism</a:t>
            </a:r>
            <a:endParaRPr/>
          </a:p>
        </p:txBody>
      </p:sp>
      <p:sp>
        <p:nvSpPr>
          <p:cNvPr id="250" name="Google Shape;250;p15"/>
          <p:cNvSpPr txBox="1">
            <a:spLocks noGrp="1"/>
          </p:cNvSpPr>
          <p:nvPr>
            <p:ph type="body" idx="1"/>
          </p:nvPr>
        </p:nvSpPr>
        <p:spPr>
          <a:xfrm>
            <a:off x="859852" y="2024490"/>
            <a:ext cx="2749418" cy="2004000"/>
          </a:xfrm>
          <a:prstGeom prst="rect">
            <a:avLst/>
          </a:prstGeom>
          <a:noFill/>
          <a:ln>
            <a:noFill/>
          </a:ln>
        </p:spPr>
        <p:txBody>
          <a:bodyPr spcFirstLastPara="1" wrap="square" lIns="91425" tIns="91425" rIns="91425" bIns="91425" anchor="t" anchorCtr="0">
            <a:noAutofit/>
          </a:bodyPr>
          <a:lstStyle/>
          <a:p>
            <a:pPr marL="101600" lvl="0" indent="0" algn="l" rtl="0">
              <a:lnSpc>
                <a:spcPct val="115000"/>
              </a:lnSpc>
              <a:spcBef>
                <a:spcPts val="600"/>
              </a:spcBef>
              <a:spcAft>
                <a:spcPts val="0"/>
              </a:spcAft>
              <a:buSzPts val="2000"/>
              <a:buNone/>
            </a:pPr>
            <a:r>
              <a:rPr lang="en-MY" sz="1400">
                <a:solidFill>
                  <a:srgbClr val="000000"/>
                </a:solidFill>
                <a:latin typeface="Open Sans"/>
                <a:ea typeface="Open Sans"/>
                <a:cs typeface="Open Sans"/>
                <a:sym typeface="Open Sans"/>
              </a:rPr>
              <a:t>Polymorphism is the ability of a programming language to process objects differently based on their class. </a:t>
            </a:r>
            <a:endParaRPr/>
          </a:p>
          <a:p>
            <a:pPr marL="101600" lvl="0" indent="0" algn="l" rtl="0">
              <a:lnSpc>
                <a:spcPct val="115000"/>
              </a:lnSpc>
              <a:spcBef>
                <a:spcPts val="600"/>
              </a:spcBef>
              <a:spcAft>
                <a:spcPts val="0"/>
              </a:spcAft>
              <a:buSzPts val="2000"/>
              <a:buNone/>
            </a:pPr>
            <a:r>
              <a:rPr lang="en-MY" sz="1400">
                <a:solidFill>
                  <a:srgbClr val="000000"/>
                </a:solidFill>
                <a:latin typeface="Open Sans"/>
                <a:ea typeface="Open Sans"/>
                <a:cs typeface="Open Sans"/>
                <a:sym typeface="Open Sans"/>
              </a:rPr>
              <a:t>Consider a parent class shapes. The child classes are rectangle, </a:t>
            </a:r>
            <a:r>
              <a:rPr lang="en-MY" sz="1400"/>
              <a:t>triangle</a:t>
            </a:r>
            <a:r>
              <a:rPr lang="en-MY" sz="1400">
                <a:solidFill>
                  <a:srgbClr val="000000"/>
                </a:solidFill>
                <a:latin typeface="Open Sans"/>
                <a:ea typeface="Open Sans"/>
                <a:cs typeface="Open Sans"/>
                <a:sym typeface="Open Sans"/>
              </a:rPr>
              <a:t> </a:t>
            </a:r>
            <a:r>
              <a:rPr lang="en-MY" sz="1400"/>
              <a:t>and circle</a:t>
            </a:r>
            <a:r>
              <a:rPr lang="en-MY" sz="1400">
                <a:solidFill>
                  <a:srgbClr val="000000"/>
                </a:solidFill>
                <a:latin typeface="Open Sans"/>
                <a:ea typeface="Open Sans"/>
                <a:cs typeface="Open Sans"/>
                <a:sym typeface="Open Sans"/>
              </a:rPr>
              <a:t>.</a:t>
            </a:r>
            <a:endParaRPr/>
          </a:p>
        </p:txBody>
      </p:sp>
      <p:sp>
        <p:nvSpPr>
          <p:cNvPr id="251" name="Google Shape;251;p15"/>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grpSp>
        <p:nvGrpSpPr>
          <p:cNvPr id="252" name="Google Shape;252;p15"/>
          <p:cNvGrpSpPr/>
          <p:nvPr/>
        </p:nvGrpSpPr>
        <p:grpSpPr>
          <a:xfrm>
            <a:off x="7516121" y="711701"/>
            <a:ext cx="903434" cy="903434"/>
            <a:chOff x="2594325" y="1627175"/>
            <a:chExt cx="440850" cy="440850"/>
          </a:xfrm>
        </p:grpSpPr>
        <p:sp>
          <p:nvSpPr>
            <p:cNvPr id="253" name="Google Shape;253;p15"/>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15"/>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5"/>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6" name="Google Shape;256;p15"/>
          <p:cNvGrpSpPr/>
          <p:nvPr/>
        </p:nvGrpSpPr>
        <p:grpSpPr>
          <a:xfrm>
            <a:off x="3503631" y="2217151"/>
            <a:ext cx="5173850" cy="2542862"/>
            <a:chOff x="1453440" y="6048690"/>
            <a:chExt cx="5173850" cy="2542862"/>
          </a:xfrm>
        </p:grpSpPr>
        <p:grpSp>
          <p:nvGrpSpPr>
            <p:cNvPr id="257" name="Google Shape;257;p15"/>
            <p:cNvGrpSpPr/>
            <p:nvPr/>
          </p:nvGrpSpPr>
          <p:grpSpPr>
            <a:xfrm>
              <a:off x="3059713" y="6048690"/>
              <a:ext cx="1828800" cy="793313"/>
              <a:chOff x="2617076" y="4277710"/>
              <a:chExt cx="1828800" cy="793313"/>
            </a:xfrm>
          </p:grpSpPr>
          <p:sp>
            <p:nvSpPr>
              <p:cNvPr id="258" name="Google Shape;258;p15"/>
              <p:cNvSpPr/>
              <p:nvPr/>
            </p:nvSpPr>
            <p:spPr>
              <a:xfrm>
                <a:off x="2617076" y="4277710"/>
                <a:ext cx="1828800" cy="793313"/>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59" name="Google Shape;259;p15"/>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260" name="Google Shape;260;p15"/>
              <p:cNvSpPr txBox="1"/>
              <p:nvPr/>
            </p:nvSpPr>
            <p:spPr>
              <a:xfrm>
                <a:off x="3109722" y="4343509"/>
                <a:ext cx="810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shape</a:t>
                </a:r>
                <a:endParaRPr sz="1400" b="1" i="0" u="none" strike="noStrike" cap="none">
                  <a:solidFill>
                    <a:srgbClr val="000000"/>
                  </a:solidFill>
                  <a:latin typeface="Open Sans"/>
                  <a:ea typeface="Open Sans"/>
                  <a:cs typeface="Open Sans"/>
                  <a:sym typeface="Open Sans"/>
                </a:endParaRPr>
              </a:p>
            </p:txBody>
          </p:sp>
          <p:sp>
            <p:nvSpPr>
              <p:cNvPr id="261" name="Google Shape;261;p15"/>
              <p:cNvSpPr txBox="1"/>
              <p:nvPr/>
            </p:nvSpPr>
            <p:spPr>
              <a:xfrm>
                <a:off x="2617076" y="4763246"/>
                <a:ext cx="16654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Open Sans"/>
                  <a:ea typeface="Open Sans"/>
                  <a:cs typeface="Open Sans"/>
                  <a:sym typeface="Open Sans"/>
                </a:endParaRPr>
              </a:p>
            </p:txBody>
          </p:sp>
        </p:grpSp>
        <p:grpSp>
          <p:nvGrpSpPr>
            <p:cNvPr id="262" name="Google Shape;262;p15"/>
            <p:cNvGrpSpPr/>
            <p:nvPr/>
          </p:nvGrpSpPr>
          <p:grpSpPr>
            <a:xfrm>
              <a:off x="4961824" y="7367352"/>
              <a:ext cx="1665466" cy="1224200"/>
              <a:chOff x="2617076" y="4277710"/>
              <a:chExt cx="1665466" cy="1224200"/>
            </a:xfrm>
          </p:grpSpPr>
          <p:sp>
            <p:nvSpPr>
              <p:cNvPr id="263" name="Google Shape;263;p15"/>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64" name="Google Shape;264;p15"/>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265" name="Google Shape;265;p15"/>
              <p:cNvSpPr txBox="1"/>
              <p:nvPr/>
            </p:nvSpPr>
            <p:spPr>
              <a:xfrm>
                <a:off x="2886062" y="4343522"/>
                <a:ext cx="753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circle</a:t>
                </a:r>
                <a:endParaRPr sz="1400" b="1" i="0" u="none" strike="noStrike" cap="none">
                  <a:solidFill>
                    <a:srgbClr val="000000"/>
                  </a:solidFill>
                  <a:latin typeface="Open Sans"/>
                  <a:ea typeface="Open Sans"/>
                  <a:cs typeface="Open Sans"/>
                  <a:sym typeface="Open Sans"/>
                </a:endParaRPr>
              </a:p>
            </p:txBody>
          </p:sp>
          <p:sp>
            <p:nvSpPr>
              <p:cNvPr id="266" name="Google Shape;266;p15"/>
              <p:cNvSpPr txBox="1"/>
              <p:nvPr/>
            </p:nvSpPr>
            <p:spPr>
              <a:xfrm>
                <a:off x="2617076" y="4763246"/>
                <a:ext cx="166546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{area=pi×r</a:t>
                </a:r>
                <a:r>
                  <a:rPr lang="en-MY" sz="1400" b="0" i="0" u="none" strike="noStrike" cap="none" baseline="30000">
                    <a:solidFill>
                      <a:srgbClr val="000000"/>
                    </a:solidFill>
                    <a:latin typeface="Open Sans"/>
                    <a:ea typeface="Open Sans"/>
                    <a:cs typeface="Open Sans"/>
                    <a:sym typeface="Open Sans"/>
                  </a:rPr>
                  <a:t>2</a:t>
                </a:r>
                <a:r>
                  <a:rPr lang="en-MY" sz="1400" b="0" i="0" u="none" strike="noStrike" cap="none">
                    <a:solidFill>
                      <a:srgbClr val="000000"/>
                    </a:solidFill>
                    <a:latin typeface="Open Sans"/>
                    <a:ea typeface="Open Sans"/>
                    <a:cs typeface="Open Sans"/>
                    <a:sym typeface="Open Sans"/>
                  </a:rPr>
                  <a:t>}</a:t>
                </a:r>
                <a:endParaRPr sz="1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cxnSp>
          <p:nvCxnSpPr>
            <p:cNvPr id="267" name="Google Shape;267;p15"/>
            <p:cNvCxnSpPr/>
            <p:nvPr/>
          </p:nvCxnSpPr>
          <p:spPr>
            <a:xfrm rot="10800000" flipH="1">
              <a:off x="2666689" y="6857301"/>
              <a:ext cx="810536" cy="494755"/>
            </a:xfrm>
            <a:prstGeom prst="straightConnector1">
              <a:avLst/>
            </a:prstGeom>
            <a:noFill/>
            <a:ln w="9525" cap="flat" cmpd="sng">
              <a:solidFill>
                <a:srgbClr val="347EB8"/>
              </a:solidFill>
              <a:prstDash val="solid"/>
              <a:round/>
              <a:headEnd type="none" w="sm" len="sm"/>
              <a:tailEnd type="triangle" w="med" len="med"/>
            </a:ln>
          </p:spPr>
        </p:cxnSp>
        <p:cxnSp>
          <p:nvCxnSpPr>
            <p:cNvPr id="268" name="Google Shape;268;p15"/>
            <p:cNvCxnSpPr/>
            <p:nvPr/>
          </p:nvCxnSpPr>
          <p:spPr>
            <a:xfrm rot="10800000">
              <a:off x="4363806" y="6842009"/>
              <a:ext cx="841610" cy="525341"/>
            </a:xfrm>
            <a:prstGeom prst="straightConnector1">
              <a:avLst/>
            </a:prstGeom>
            <a:noFill/>
            <a:ln w="9525" cap="flat" cmpd="sng">
              <a:solidFill>
                <a:srgbClr val="347EB8"/>
              </a:solidFill>
              <a:prstDash val="solid"/>
              <a:round/>
              <a:headEnd type="none" w="sm" len="sm"/>
              <a:tailEnd type="triangle" w="med" len="med"/>
            </a:ln>
          </p:spPr>
        </p:cxnSp>
        <p:grpSp>
          <p:nvGrpSpPr>
            <p:cNvPr id="269" name="Google Shape;269;p15"/>
            <p:cNvGrpSpPr/>
            <p:nvPr/>
          </p:nvGrpSpPr>
          <p:grpSpPr>
            <a:xfrm>
              <a:off x="3204005" y="7367352"/>
              <a:ext cx="1518119" cy="1224200"/>
              <a:chOff x="2617076" y="4277710"/>
              <a:chExt cx="1518119" cy="1224200"/>
            </a:xfrm>
          </p:grpSpPr>
          <p:sp>
            <p:nvSpPr>
              <p:cNvPr id="270" name="Google Shape;270;p15"/>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71" name="Google Shape;271;p15"/>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272" name="Google Shape;272;p15"/>
              <p:cNvSpPr txBox="1"/>
              <p:nvPr/>
            </p:nvSpPr>
            <p:spPr>
              <a:xfrm>
                <a:off x="2886055" y="4343522"/>
                <a:ext cx="965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triangle</a:t>
                </a:r>
                <a:endParaRPr sz="1400" b="1" i="0" u="none" strike="noStrike" cap="none">
                  <a:solidFill>
                    <a:srgbClr val="000000"/>
                  </a:solidFill>
                  <a:latin typeface="Open Sans"/>
                  <a:ea typeface="Open Sans"/>
                  <a:cs typeface="Open Sans"/>
                  <a:sym typeface="Open Sans"/>
                </a:endParaRPr>
              </a:p>
            </p:txBody>
          </p:sp>
          <p:sp>
            <p:nvSpPr>
              <p:cNvPr id="273" name="Google Shape;273;p15"/>
              <p:cNvSpPr txBox="1"/>
              <p:nvPr/>
            </p:nvSpPr>
            <p:spPr>
              <a:xfrm>
                <a:off x="2617076" y="4763246"/>
                <a:ext cx="1518119"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{area=1/2×h×w}</a:t>
                </a:r>
                <a:endParaRPr sz="1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nvGrpSpPr>
            <p:cNvPr id="274" name="Google Shape;274;p15"/>
            <p:cNvGrpSpPr/>
            <p:nvPr/>
          </p:nvGrpSpPr>
          <p:grpSpPr>
            <a:xfrm>
              <a:off x="1453440" y="7367352"/>
              <a:ext cx="1665466" cy="1008756"/>
              <a:chOff x="2617076" y="4277710"/>
              <a:chExt cx="1665466" cy="1008756"/>
            </a:xfrm>
          </p:grpSpPr>
          <p:sp>
            <p:nvSpPr>
              <p:cNvPr id="275" name="Google Shape;275;p15"/>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76" name="Google Shape;276;p15"/>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277" name="Google Shape;277;p15"/>
              <p:cNvSpPr txBox="1"/>
              <p:nvPr/>
            </p:nvSpPr>
            <p:spPr>
              <a:xfrm>
                <a:off x="2886045" y="4343522"/>
                <a:ext cx="1097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rectangle</a:t>
                </a:r>
                <a:endParaRPr sz="1400" b="1" i="0" u="none" strike="noStrike" cap="none">
                  <a:solidFill>
                    <a:srgbClr val="000000"/>
                  </a:solidFill>
                  <a:latin typeface="Open Sans"/>
                  <a:ea typeface="Open Sans"/>
                  <a:cs typeface="Open Sans"/>
                  <a:sym typeface="Open Sans"/>
                </a:endParaRPr>
              </a:p>
            </p:txBody>
          </p:sp>
          <p:sp>
            <p:nvSpPr>
              <p:cNvPr id="278" name="Google Shape;278;p15"/>
              <p:cNvSpPr txBox="1"/>
              <p:nvPr/>
            </p:nvSpPr>
            <p:spPr>
              <a:xfrm>
                <a:off x="2617076" y="4763246"/>
                <a:ext cx="16654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 area = h× w }</a:t>
                </a:r>
                <a:endParaRPr sz="1400" b="0" i="0" u="none" strike="noStrike" cap="none">
                  <a:solidFill>
                    <a:srgbClr val="000000"/>
                  </a:solidFill>
                  <a:latin typeface="Open Sans"/>
                  <a:ea typeface="Open Sans"/>
                  <a:cs typeface="Open Sans"/>
                  <a:sym typeface="Open Sans"/>
                </a:endParaRPr>
              </a:p>
            </p:txBody>
          </p:sp>
        </p:grpSp>
        <p:cxnSp>
          <p:nvCxnSpPr>
            <p:cNvPr id="279" name="Google Shape;279;p15"/>
            <p:cNvCxnSpPr>
              <a:endCxn id="261" idx="2"/>
            </p:cNvCxnSpPr>
            <p:nvPr/>
          </p:nvCxnSpPr>
          <p:spPr>
            <a:xfrm rot="10800000">
              <a:off x="3892446" y="6842003"/>
              <a:ext cx="0" cy="510000"/>
            </a:xfrm>
            <a:prstGeom prst="straightConnector1">
              <a:avLst/>
            </a:prstGeom>
            <a:noFill/>
            <a:ln w="9525" cap="flat" cmpd="sng">
              <a:solidFill>
                <a:srgbClr val="347EB8"/>
              </a:solidFill>
              <a:prstDash val="solid"/>
              <a:round/>
              <a:headEnd type="none" w="sm" len="sm"/>
              <a:tailEnd type="triangle" w="med" len="med"/>
            </a:ln>
          </p:spPr>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6"/>
          <p:cNvSpPr txBox="1">
            <a:spLocks noGrp="1"/>
          </p:cNvSpPr>
          <p:nvPr>
            <p:ph type="title" idx="4294967295"/>
          </p:nvPr>
        </p:nvSpPr>
        <p:spPr>
          <a:xfrm>
            <a:off x="859852" y="75463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Polymorphism</a:t>
            </a:r>
            <a:endParaRPr/>
          </a:p>
        </p:txBody>
      </p:sp>
      <p:sp>
        <p:nvSpPr>
          <p:cNvPr id="285" name="Google Shape;285;p16"/>
          <p:cNvSpPr txBox="1">
            <a:spLocks noGrp="1"/>
          </p:cNvSpPr>
          <p:nvPr>
            <p:ph type="body" idx="1"/>
          </p:nvPr>
        </p:nvSpPr>
        <p:spPr>
          <a:xfrm>
            <a:off x="859851" y="1505325"/>
            <a:ext cx="3667253" cy="2004000"/>
          </a:xfrm>
          <a:prstGeom prst="rect">
            <a:avLst/>
          </a:prstGeom>
          <a:noFill/>
          <a:ln>
            <a:noFill/>
          </a:ln>
        </p:spPr>
        <p:txBody>
          <a:bodyPr spcFirstLastPara="1" wrap="square" lIns="91425" tIns="91425" rIns="91425" bIns="91425" anchor="t" anchorCtr="0">
            <a:noAutofit/>
          </a:bodyPr>
          <a:lstStyle/>
          <a:p>
            <a:pPr marL="101600" lvl="0" indent="0" algn="l" rtl="0">
              <a:lnSpc>
                <a:spcPct val="115000"/>
              </a:lnSpc>
              <a:spcBef>
                <a:spcPts val="600"/>
              </a:spcBef>
              <a:spcAft>
                <a:spcPts val="0"/>
              </a:spcAft>
              <a:buSzPts val="2000"/>
              <a:buNone/>
            </a:pPr>
            <a:r>
              <a:rPr lang="en-MY" sz="1400">
                <a:solidFill>
                  <a:srgbClr val="000000"/>
                </a:solidFill>
                <a:latin typeface="Open Sans"/>
                <a:ea typeface="Open Sans"/>
                <a:cs typeface="Open Sans"/>
                <a:sym typeface="Open Sans"/>
              </a:rPr>
              <a:t>A method named calculatearea() is defined in the parent class. The child classes would acquire it, but each child-class has a different operation for the same method calculatearea().</a:t>
            </a:r>
            <a:endParaRPr/>
          </a:p>
          <a:p>
            <a:pPr marL="101600" lvl="0" indent="0" algn="l" rtl="0">
              <a:lnSpc>
                <a:spcPct val="115000"/>
              </a:lnSpc>
              <a:spcBef>
                <a:spcPts val="600"/>
              </a:spcBef>
              <a:spcAft>
                <a:spcPts val="0"/>
              </a:spcAft>
              <a:buSzPts val="2000"/>
              <a:buNone/>
            </a:pPr>
            <a:r>
              <a:rPr lang="en-MY" sz="1400">
                <a:solidFill>
                  <a:srgbClr val="000000"/>
                </a:solidFill>
                <a:latin typeface="Open Sans"/>
                <a:ea typeface="Open Sans"/>
                <a:cs typeface="Open Sans"/>
                <a:sym typeface="Open Sans"/>
              </a:rPr>
              <a:t> The function of calculatearea() used for a rectangle object will be different for that of a triangle object.</a:t>
            </a:r>
            <a:endParaRPr/>
          </a:p>
        </p:txBody>
      </p:sp>
      <p:sp>
        <p:nvSpPr>
          <p:cNvPr id="286" name="Google Shape;286;p16"/>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grpSp>
        <p:nvGrpSpPr>
          <p:cNvPr id="287" name="Google Shape;287;p16"/>
          <p:cNvGrpSpPr/>
          <p:nvPr/>
        </p:nvGrpSpPr>
        <p:grpSpPr>
          <a:xfrm>
            <a:off x="7516121" y="711701"/>
            <a:ext cx="903434" cy="903434"/>
            <a:chOff x="2594325" y="1627175"/>
            <a:chExt cx="440850" cy="440850"/>
          </a:xfrm>
        </p:grpSpPr>
        <p:sp>
          <p:nvSpPr>
            <p:cNvPr id="288" name="Google Shape;288;p16"/>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16"/>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16"/>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1" name="Google Shape;291;p16"/>
          <p:cNvGrpSpPr/>
          <p:nvPr/>
        </p:nvGrpSpPr>
        <p:grpSpPr>
          <a:xfrm>
            <a:off x="3503631" y="2217151"/>
            <a:ext cx="5173850" cy="2542862"/>
            <a:chOff x="1453440" y="6048690"/>
            <a:chExt cx="5173850" cy="2542862"/>
          </a:xfrm>
        </p:grpSpPr>
        <p:grpSp>
          <p:nvGrpSpPr>
            <p:cNvPr id="292" name="Google Shape;292;p16"/>
            <p:cNvGrpSpPr/>
            <p:nvPr/>
          </p:nvGrpSpPr>
          <p:grpSpPr>
            <a:xfrm>
              <a:off x="3059713" y="6048690"/>
              <a:ext cx="1828800" cy="793313"/>
              <a:chOff x="2617076" y="4277710"/>
              <a:chExt cx="1828800" cy="793313"/>
            </a:xfrm>
          </p:grpSpPr>
          <p:sp>
            <p:nvSpPr>
              <p:cNvPr id="293" name="Google Shape;293;p16"/>
              <p:cNvSpPr/>
              <p:nvPr/>
            </p:nvSpPr>
            <p:spPr>
              <a:xfrm>
                <a:off x="2617076" y="4277710"/>
                <a:ext cx="1828800" cy="793313"/>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94" name="Google Shape;294;p16"/>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295" name="Google Shape;295;p16"/>
              <p:cNvSpPr txBox="1"/>
              <p:nvPr/>
            </p:nvSpPr>
            <p:spPr>
              <a:xfrm>
                <a:off x="3109722" y="4343509"/>
                <a:ext cx="810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shape</a:t>
                </a:r>
                <a:endParaRPr sz="1400" b="1" i="0" u="none" strike="noStrike" cap="none">
                  <a:solidFill>
                    <a:srgbClr val="000000"/>
                  </a:solidFill>
                  <a:latin typeface="Open Sans"/>
                  <a:ea typeface="Open Sans"/>
                  <a:cs typeface="Open Sans"/>
                  <a:sym typeface="Open Sans"/>
                </a:endParaRPr>
              </a:p>
            </p:txBody>
          </p:sp>
          <p:sp>
            <p:nvSpPr>
              <p:cNvPr id="296" name="Google Shape;296;p16"/>
              <p:cNvSpPr txBox="1"/>
              <p:nvPr/>
            </p:nvSpPr>
            <p:spPr>
              <a:xfrm>
                <a:off x="2617076" y="4763246"/>
                <a:ext cx="16654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Open Sans"/>
                  <a:ea typeface="Open Sans"/>
                  <a:cs typeface="Open Sans"/>
                  <a:sym typeface="Open Sans"/>
                </a:endParaRPr>
              </a:p>
            </p:txBody>
          </p:sp>
        </p:grpSp>
        <p:grpSp>
          <p:nvGrpSpPr>
            <p:cNvPr id="297" name="Google Shape;297;p16"/>
            <p:cNvGrpSpPr/>
            <p:nvPr/>
          </p:nvGrpSpPr>
          <p:grpSpPr>
            <a:xfrm>
              <a:off x="4961824" y="7367352"/>
              <a:ext cx="1665466" cy="1224200"/>
              <a:chOff x="2617076" y="4277710"/>
              <a:chExt cx="1665466" cy="1224200"/>
            </a:xfrm>
          </p:grpSpPr>
          <p:sp>
            <p:nvSpPr>
              <p:cNvPr id="298" name="Google Shape;298;p16"/>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99" name="Google Shape;299;p16"/>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300" name="Google Shape;300;p16"/>
              <p:cNvSpPr txBox="1"/>
              <p:nvPr/>
            </p:nvSpPr>
            <p:spPr>
              <a:xfrm>
                <a:off x="2886062" y="4343522"/>
                <a:ext cx="763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circle</a:t>
                </a:r>
                <a:endParaRPr sz="1400" b="1" i="0" u="none" strike="noStrike" cap="none">
                  <a:solidFill>
                    <a:srgbClr val="000000"/>
                  </a:solidFill>
                  <a:latin typeface="Open Sans"/>
                  <a:ea typeface="Open Sans"/>
                  <a:cs typeface="Open Sans"/>
                  <a:sym typeface="Open Sans"/>
                </a:endParaRPr>
              </a:p>
            </p:txBody>
          </p:sp>
          <p:sp>
            <p:nvSpPr>
              <p:cNvPr id="301" name="Google Shape;301;p16"/>
              <p:cNvSpPr txBox="1"/>
              <p:nvPr/>
            </p:nvSpPr>
            <p:spPr>
              <a:xfrm>
                <a:off x="2617076" y="4763246"/>
                <a:ext cx="166546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{area=pi×r</a:t>
                </a:r>
                <a:r>
                  <a:rPr lang="en-MY" sz="1400" b="0" i="0" u="none" strike="noStrike" cap="none" baseline="30000">
                    <a:solidFill>
                      <a:srgbClr val="000000"/>
                    </a:solidFill>
                    <a:latin typeface="Open Sans"/>
                    <a:ea typeface="Open Sans"/>
                    <a:cs typeface="Open Sans"/>
                    <a:sym typeface="Open Sans"/>
                  </a:rPr>
                  <a:t>2</a:t>
                </a:r>
                <a:r>
                  <a:rPr lang="en-MY" sz="1400" b="0" i="0" u="none" strike="noStrike" cap="none">
                    <a:solidFill>
                      <a:srgbClr val="000000"/>
                    </a:solidFill>
                    <a:latin typeface="Open Sans"/>
                    <a:ea typeface="Open Sans"/>
                    <a:cs typeface="Open Sans"/>
                    <a:sym typeface="Open Sans"/>
                  </a:rPr>
                  <a:t>}</a:t>
                </a:r>
                <a:endParaRPr sz="1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cxnSp>
          <p:nvCxnSpPr>
            <p:cNvPr id="302" name="Google Shape;302;p16"/>
            <p:cNvCxnSpPr/>
            <p:nvPr/>
          </p:nvCxnSpPr>
          <p:spPr>
            <a:xfrm rot="10800000" flipH="1">
              <a:off x="2666689" y="6857301"/>
              <a:ext cx="810536" cy="494755"/>
            </a:xfrm>
            <a:prstGeom prst="straightConnector1">
              <a:avLst/>
            </a:prstGeom>
            <a:noFill/>
            <a:ln w="9525" cap="flat" cmpd="sng">
              <a:solidFill>
                <a:srgbClr val="347EB8"/>
              </a:solidFill>
              <a:prstDash val="solid"/>
              <a:round/>
              <a:headEnd type="none" w="sm" len="sm"/>
              <a:tailEnd type="triangle" w="med" len="med"/>
            </a:ln>
          </p:spPr>
        </p:cxnSp>
        <p:cxnSp>
          <p:nvCxnSpPr>
            <p:cNvPr id="303" name="Google Shape;303;p16"/>
            <p:cNvCxnSpPr/>
            <p:nvPr/>
          </p:nvCxnSpPr>
          <p:spPr>
            <a:xfrm rot="10800000">
              <a:off x="4363806" y="6842009"/>
              <a:ext cx="841610" cy="525341"/>
            </a:xfrm>
            <a:prstGeom prst="straightConnector1">
              <a:avLst/>
            </a:prstGeom>
            <a:noFill/>
            <a:ln w="9525" cap="flat" cmpd="sng">
              <a:solidFill>
                <a:srgbClr val="347EB8"/>
              </a:solidFill>
              <a:prstDash val="solid"/>
              <a:round/>
              <a:headEnd type="none" w="sm" len="sm"/>
              <a:tailEnd type="triangle" w="med" len="med"/>
            </a:ln>
          </p:spPr>
        </p:cxnSp>
        <p:grpSp>
          <p:nvGrpSpPr>
            <p:cNvPr id="304" name="Google Shape;304;p16"/>
            <p:cNvGrpSpPr/>
            <p:nvPr/>
          </p:nvGrpSpPr>
          <p:grpSpPr>
            <a:xfrm>
              <a:off x="3204005" y="7367352"/>
              <a:ext cx="1518119" cy="1224200"/>
              <a:chOff x="2617076" y="4277710"/>
              <a:chExt cx="1518119" cy="1224200"/>
            </a:xfrm>
          </p:grpSpPr>
          <p:sp>
            <p:nvSpPr>
              <p:cNvPr id="305" name="Google Shape;305;p16"/>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06" name="Google Shape;306;p16"/>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307" name="Google Shape;307;p16"/>
              <p:cNvSpPr txBox="1"/>
              <p:nvPr/>
            </p:nvSpPr>
            <p:spPr>
              <a:xfrm>
                <a:off x="2886055" y="4343522"/>
                <a:ext cx="965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triangle</a:t>
                </a:r>
                <a:endParaRPr sz="1400" b="1" i="0" u="none" strike="noStrike" cap="none">
                  <a:solidFill>
                    <a:srgbClr val="000000"/>
                  </a:solidFill>
                  <a:latin typeface="Open Sans"/>
                  <a:ea typeface="Open Sans"/>
                  <a:cs typeface="Open Sans"/>
                  <a:sym typeface="Open Sans"/>
                </a:endParaRPr>
              </a:p>
            </p:txBody>
          </p:sp>
          <p:sp>
            <p:nvSpPr>
              <p:cNvPr id="308" name="Google Shape;308;p16"/>
              <p:cNvSpPr txBox="1"/>
              <p:nvPr/>
            </p:nvSpPr>
            <p:spPr>
              <a:xfrm>
                <a:off x="2617076" y="4763246"/>
                <a:ext cx="1518119"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{area=1/2×h×w}</a:t>
                </a:r>
                <a:endParaRPr sz="1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nvGrpSpPr>
            <p:cNvPr id="309" name="Google Shape;309;p16"/>
            <p:cNvGrpSpPr/>
            <p:nvPr/>
          </p:nvGrpSpPr>
          <p:grpSpPr>
            <a:xfrm>
              <a:off x="1453440" y="7367352"/>
              <a:ext cx="1665466" cy="1008756"/>
              <a:chOff x="2617076" y="4277710"/>
              <a:chExt cx="1665466" cy="1008756"/>
            </a:xfrm>
          </p:grpSpPr>
          <p:sp>
            <p:nvSpPr>
              <p:cNvPr id="310" name="Google Shape;310;p16"/>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11" name="Google Shape;311;p16"/>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312" name="Google Shape;312;p16"/>
              <p:cNvSpPr txBox="1"/>
              <p:nvPr/>
            </p:nvSpPr>
            <p:spPr>
              <a:xfrm>
                <a:off x="2801869" y="4343522"/>
                <a:ext cx="1116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rectangle</a:t>
                </a:r>
                <a:endParaRPr sz="1400" b="1" i="0" u="none" strike="noStrike" cap="none">
                  <a:solidFill>
                    <a:srgbClr val="000000"/>
                  </a:solidFill>
                  <a:latin typeface="Open Sans"/>
                  <a:ea typeface="Open Sans"/>
                  <a:cs typeface="Open Sans"/>
                  <a:sym typeface="Open Sans"/>
                </a:endParaRPr>
              </a:p>
            </p:txBody>
          </p:sp>
          <p:sp>
            <p:nvSpPr>
              <p:cNvPr id="313" name="Google Shape;313;p16"/>
              <p:cNvSpPr txBox="1"/>
              <p:nvPr/>
            </p:nvSpPr>
            <p:spPr>
              <a:xfrm>
                <a:off x="2617076" y="4763246"/>
                <a:ext cx="16654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 area = h× w }</a:t>
                </a:r>
                <a:endParaRPr sz="1400" b="0" i="0" u="none" strike="noStrike" cap="none">
                  <a:solidFill>
                    <a:srgbClr val="000000"/>
                  </a:solidFill>
                  <a:latin typeface="Open Sans"/>
                  <a:ea typeface="Open Sans"/>
                  <a:cs typeface="Open Sans"/>
                  <a:sym typeface="Open Sans"/>
                </a:endParaRPr>
              </a:p>
            </p:txBody>
          </p:sp>
        </p:grpSp>
        <p:cxnSp>
          <p:nvCxnSpPr>
            <p:cNvPr id="314" name="Google Shape;314;p16"/>
            <p:cNvCxnSpPr>
              <a:endCxn id="296" idx="2"/>
            </p:cNvCxnSpPr>
            <p:nvPr/>
          </p:nvCxnSpPr>
          <p:spPr>
            <a:xfrm rot="10800000">
              <a:off x="3892446" y="6842003"/>
              <a:ext cx="0" cy="510000"/>
            </a:xfrm>
            <a:prstGeom prst="straightConnector1">
              <a:avLst/>
            </a:prstGeom>
            <a:noFill/>
            <a:ln w="9525" cap="flat" cmpd="sng">
              <a:solidFill>
                <a:srgbClr val="347EB8"/>
              </a:solidFill>
              <a:prstDash val="solid"/>
              <a:round/>
              <a:headEnd type="none" w="sm" len="sm"/>
              <a:tailEnd type="triangle" w="med" len="med"/>
            </a:ln>
          </p:spPr>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7"/>
          <p:cNvSpPr txBox="1">
            <a:spLocks noGrp="1"/>
          </p:cNvSpPr>
          <p:nvPr>
            <p:ph type="title" idx="4294967295"/>
          </p:nvPr>
        </p:nvSpPr>
        <p:spPr>
          <a:xfrm>
            <a:off x="859852" y="1284180"/>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Polymorphism</a:t>
            </a:r>
            <a:endParaRPr/>
          </a:p>
        </p:txBody>
      </p:sp>
      <p:sp>
        <p:nvSpPr>
          <p:cNvPr id="320" name="Google Shape;320;p17"/>
          <p:cNvSpPr txBox="1">
            <a:spLocks noGrp="1"/>
          </p:cNvSpPr>
          <p:nvPr>
            <p:ph type="body" idx="1"/>
          </p:nvPr>
        </p:nvSpPr>
        <p:spPr>
          <a:xfrm>
            <a:off x="859851" y="2034866"/>
            <a:ext cx="3667253" cy="2004000"/>
          </a:xfrm>
          <a:prstGeom prst="rect">
            <a:avLst/>
          </a:prstGeom>
          <a:noFill/>
          <a:ln>
            <a:noFill/>
          </a:ln>
        </p:spPr>
        <p:txBody>
          <a:bodyPr spcFirstLastPara="1" wrap="square" lIns="91425" tIns="91425" rIns="91425" bIns="91425" anchor="t" anchorCtr="0">
            <a:noAutofit/>
          </a:bodyPr>
          <a:lstStyle/>
          <a:p>
            <a:pPr marL="101600" lvl="0" indent="0" algn="l" rtl="0">
              <a:lnSpc>
                <a:spcPct val="115000"/>
              </a:lnSpc>
              <a:spcBef>
                <a:spcPts val="600"/>
              </a:spcBef>
              <a:spcAft>
                <a:spcPts val="0"/>
              </a:spcAft>
              <a:buSzPts val="2000"/>
              <a:buNone/>
            </a:pPr>
            <a:r>
              <a:rPr lang="en-MY" sz="1400">
                <a:solidFill>
                  <a:srgbClr val="000000"/>
                </a:solidFill>
                <a:latin typeface="Open Sans"/>
                <a:ea typeface="Open Sans"/>
                <a:cs typeface="Open Sans"/>
                <a:sym typeface="Open Sans"/>
              </a:rPr>
              <a:t>An advantage of polymorphism is that the code is more generic. This helps us to reuse codes in the main class. </a:t>
            </a:r>
            <a:endParaRPr/>
          </a:p>
        </p:txBody>
      </p:sp>
      <p:sp>
        <p:nvSpPr>
          <p:cNvPr id="321" name="Google Shape;321;p17"/>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grpSp>
        <p:nvGrpSpPr>
          <p:cNvPr id="322" name="Google Shape;322;p17"/>
          <p:cNvGrpSpPr/>
          <p:nvPr/>
        </p:nvGrpSpPr>
        <p:grpSpPr>
          <a:xfrm>
            <a:off x="7516121" y="711701"/>
            <a:ext cx="903434" cy="903434"/>
            <a:chOff x="2594325" y="1627175"/>
            <a:chExt cx="440850" cy="440850"/>
          </a:xfrm>
        </p:grpSpPr>
        <p:sp>
          <p:nvSpPr>
            <p:cNvPr id="323" name="Google Shape;323;p17"/>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17"/>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17"/>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6" name="Google Shape;326;p17"/>
          <p:cNvGrpSpPr/>
          <p:nvPr/>
        </p:nvGrpSpPr>
        <p:grpSpPr>
          <a:xfrm>
            <a:off x="3503631" y="2217151"/>
            <a:ext cx="5173850" cy="2542862"/>
            <a:chOff x="1453440" y="6048690"/>
            <a:chExt cx="5173850" cy="2542862"/>
          </a:xfrm>
        </p:grpSpPr>
        <p:grpSp>
          <p:nvGrpSpPr>
            <p:cNvPr id="327" name="Google Shape;327;p17"/>
            <p:cNvGrpSpPr/>
            <p:nvPr/>
          </p:nvGrpSpPr>
          <p:grpSpPr>
            <a:xfrm>
              <a:off x="3059713" y="6048690"/>
              <a:ext cx="1828800" cy="793313"/>
              <a:chOff x="2617076" y="4277710"/>
              <a:chExt cx="1828800" cy="793313"/>
            </a:xfrm>
          </p:grpSpPr>
          <p:sp>
            <p:nvSpPr>
              <p:cNvPr id="328" name="Google Shape;328;p17"/>
              <p:cNvSpPr/>
              <p:nvPr/>
            </p:nvSpPr>
            <p:spPr>
              <a:xfrm>
                <a:off x="2617076" y="4277710"/>
                <a:ext cx="1828800" cy="793313"/>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29" name="Google Shape;329;p17"/>
              <p:cNvCxnSpPr/>
              <p:nvPr/>
            </p:nvCxnSpPr>
            <p:spPr>
              <a:xfrm>
                <a:off x="2617076" y="4666592"/>
                <a:ext cx="1828800" cy="0"/>
              </a:xfrm>
              <a:prstGeom prst="straightConnector1">
                <a:avLst/>
              </a:prstGeom>
              <a:noFill/>
              <a:ln w="9525" cap="flat" cmpd="sng">
                <a:solidFill>
                  <a:srgbClr val="0090FF"/>
                </a:solidFill>
                <a:prstDash val="solid"/>
                <a:round/>
                <a:headEnd type="none" w="sm" len="sm"/>
                <a:tailEnd type="none" w="sm" len="sm"/>
              </a:ln>
            </p:spPr>
          </p:cxnSp>
          <p:sp>
            <p:nvSpPr>
              <p:cNvPr id="330" name="Google Shape;330;p17"/>
              <p:cNvSpPr txBox="1"/>
              <p:nvPr/>
            </p:nvSpPr>
            <p:spPr>
              <a:xfrm>
                <a:off x="3109721" y="4343509"/>
                <a:ext cx="841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shape</a:t>
                </a:r>
                <a:endParaRPr sz="1400" b="1" i="0" u="none" strike="noStrike" cap="none">
                  <a:solidFill>
                    <a:srgbClr val="000000"/>
                  </a:solidFill>
                  <a:latin typeface="Open Sans"/>
                  <a:ea typeface="Open Sans"/>
                  <a:cs typeface="Open Sans"/>
                  <a:sym typeface="Open Sans"/>
                </a:endParaRPr>
              </a:p>
            </p:txBody>
          </p:sp>
          <p:sp>
            <p:nvSpPr>
              <p:cNvPr id="331" name="Google Shape;331;p17"/>
              <p:cNvSpPr txBox="1"/>
              <p:nvPr/>
            </p:nvSpPr>
            <p:spPr>
              <a:xfrm>
                <a:off x="2617076" y="4763246"/>
                <a:ext cx="16654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Open Sans"/>
                  <a:ea typeface="Open Sans"/>
                  <a:cs typeface="Open Sans"/>
                  <a:sym typeface="Open Sans"/>
                </a:endParaRPr>
              </a:p>
            </p:txBody>
          </p:sp>
        </p:grpSp>
        <p:grpSp>
          <p:nvGrpSpPr>
            <p:cNvPr id="332" name="Google Shape;332;p17"/>
            <p:cNvGrpSpPr/>
            <p:nvPr/>
          </p:nvGrpSpPr>
          <p:grpSpPr>
            <a:xfrm>
              <a:off x="4961824" y="7367352"/>
              <a:ext cx="1665466" cy="1224200"/>
              <a:chOff x="2617076" y="4277710"/>
              <a:chExt cx="1665466" cy="1224200"/>
            </a:xfrm>
          </p:grpSpPr>
          <p:sp>
            <p:nvSpPr>
              <p:cNvPr id="333" name="Google Shape;333;p17"/>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34" name="Google Shape;334;p17"/>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335" name="Google Shape;335;p17"/>
              <p:cNvSpPr txBox="1"/>
              <p:nvPr/>
            </p:nvSpPr>
            <p:spPr>
              <a:xfrm>
                <a:off x="2886063" y="4343522"/>
                <a:ext cx="810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circle</a:t>
                </a:r>
                <a:endParaRPr sz="1400" b="1" i="0" u="none" strike="noStrike" cap="none">
                  <a:solidFill>
                    <a:srgbClr val="000000"/>
                  </a:solidFill>
                  <a:latin typeface="Open Sans"/>
                  <a:ea typeface="Open Sans"/>
                  <a:cs typeface="Open Sans"/>
                  <a:sym typeface="Open Sans"/>
                </a:endParaRPr>
              </a:p>
            </p:txBody>
          </p:sp>
          <p:sp>
            <p:nvSpPr>
              <p:cNvPr id="336" name="Google Shape;336;p17"/>
              <p:cNvSpPr txBox="1"/>
              <p:nvPr/>
            </p:nvSpPr>
            <p:spPr>
              <a:xfrm>
                <a:off x="2617076" y="4763246"/>
                <a:ext cx="166546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{area=pi×r</a:t>
                </a:r>
                <a:r>
                  <a:rPr lang="en-MY" sz="1400" b="0" i="0" u="none" strike="noStrike" cap="none" baseline="30000">
                    <a:solidFill>
                      <a:srgbClr val="000000"/>
                    </a:solidFill>
                    <a:latin typeface="Open Sans"/>
                    <a:ea typeface="Open Sans"/>
                    <a:cs typeface="Open Sans"/>
                    <a:sym typeface="Open Sans"/>
                  </a:rPr>
                  <a:t>2</a:t>
                </a:r>
                <a:r>
                  <a:rPr lang="en-MY" sz="1400" b="0" i="0" u="none" strike="noStrike" cap="none">
                    <a:solidFill>
                      <a:srgbClr val="000000"/>
                    </a:solidFill>
                    <a:latin typeface="Open Sans"/>
                    <a:ea typeface="Open Sans"/>
                    <a:cs typeface="Open Sans"/>
                    <a:sym typeface="Open Sans"/>
                  </a:rPr>
                  <a:t>}</a:t>
                </a:r>
                <a:endParaRPr sz="1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cxnSp>
          <p:nvCxnSpPr>
            <p:cNvPr id="337" name="Google Shape;337;p17"/>
            <p:cNvCxnSpPr/>
            <p:nvPr/>
          </p:nvCxnSpPr>
          <p:spPr>
            <a:xfrm rot="10800000" flipH="1">
              <a:off x="2666689" y="6857301"/>
              <a:ext cx="810536" cy="494755"/>
            </a:xfrm>
            <a:prstGeom prst="straightConnector1">
              <a:avLst/>
            </a:prstGeom>
            <a:noFill/>
            <a:ln w="9525" cap="flat" cmpd="sng">
              <a:solidFill>
                <a:srgbClr val="347EB8"/>
              </a:solidFill>
              <a:prstDash val="solid"/>
              <a:round/>
              <a:headEnd type="none" w="sm" len="sm"/>
              <a:tailEnd type="triangle" w="med" len="med"/>
            </a:ln>
          </p:spPr>
        </p:cxnSp>
        <p:cxnSp>
          <p:nvCxnSpPr>
            <p:cNvPr id="338" name="Google Shape;338;p17"/>
            <p:cNvCxnSpPr/>
            <p:nvPr/>
          </p:nvCxnSpPr>
          <p:spPr>
            <a:xfrm rot="10800000">
              <a:off x="4363806" y="6842009"/>
              <a:ext cx="841610" cy="525341"/>
            </a:xfrm>
            <a:prstGeom prst="straightConnector1">
              <a:avLst/>
            </a:prstGeom>
            <a:noFill/>
            <a:ln w="9525" cap="flat" cmpd="sng">
              <a:solidFill>
                <a:srgbClr val="347EB8"/>
              </a:solidFill>
              <a:prstDash val="solid"/>
              <a:round/>
              <a:headEnd type="none" w="sm" len="sm"/>
              <a:tailEnd type="triangle" w="med" len="med"/>
            </a:ln>
          </p:spPr>
        </p:cxnSp>
        <p:grpSp>
          <p:nvGrpSpPr>
            <p:cNvPr id="339" name="Google Shape;339;p17"/>
            <p:cNvGrpSpPr/>
            <p:nvPr/>
          </p:nvGrpSpPr>
          <p:grpSpPr>
            <a:xfrm>
              <a:off x="3204005" y="7367352"/>
              <a:ext cx="1518119" cy="1224200"/>
              <a:chOff x="2617076" y="4277710"/>
              <a:chExt cx="1518119" cy="1224200"/>
            </a:xfrm>
          </p:grpSpPr>
          <p:sp>
            <p:nvSpPr>
              <p:cNvPr id="340" name="Google Shape;340;p17"/>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41" name="Google Shape;341;p17"/>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342" name="Google Shape;342;p17"/>
              <p:cNvSpPr txBox="1"/>
              <p:nvPr/>
            </p:nvSpPr>
            <p:spPr>
              <a:xfrm>
                <a:off x="2886055" y="4343522"/>
                <a:ext cx="975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triangle</a:t>
                </a:r>
                <a:endParaRPr sz="1400" b="1" i="0" u="none" strike="noStrike" cap="none">
                  <a:solidFill>
                    <a:srgbClr val="000000"/>
                  </a:solidFill>
                  <a:latin typeface="Open Sans"/>
                  <a:ea typeface="Open Sans"/>
                  <a:cs typeface="Open Sans"/>
                  <a:sym typeface="Open Sans"/>
                </a:endParaRPr>
              </a:p>
            </p:txBody>
          </p:sp>
          <p:sp>
            <p:nvSpPr>
              <p:cNvPr id="343" name="Google Shape;343;p17"/>
              <p:cNvSpPr txBox="1"/>
              <p:nvPr/>
            </p:nvSpPr>
            <p:spPr>
              <a:xfrm>
                <a:off x="2617076" y="4763246"/>
                <a:ext cx="1518119"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{area=1/2×h×w}</a:t>
                </a:r>
                <a:endParaRPr sz="1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nvGrpSpPr>
            <p:cNvPr id="344" name="Google Shape;344;p17"/>
            <p:cNvGrpSpPr/>
            <p:nvPr/>
          </p:nvGrpSpPr>
          <p:grpSpPr>
            <a:xfrm>
              <a:off x="1453440" y="7367352"/>
              <a:ext cx="1665466" cy="1008756"/>
              <a:chOff x="2617076" y="4277710"/>
              <a:chExt cx="1665466" cy="1008756"/>
            </a:xfrm>
          </p:grpSpPr>
          <p:sp>
            <p:nvSpPr>
              <p:cNvPr id="345" name="Google Shape;345;p17"/>
              <p:cNvSpPr/>
              <p:nvPr/>
            </p:nvSpPr>
            <p:spPr>
              <a:xfrm>
                <a:off x="2617076" y="4277710"/>
                <a:ext cx="1481589" cy="1008754"/>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46" name="Google Shape;346;p17"/>
              <p:cNvCxnSpPr/>
              <p:nvPr/>
            </p:nvCxnSpPr>
            <p:spPr>
              <a:xfrm>
                <a:off x="2617076" y="4666592"/>
                <a:ext cx="1481589" cy="0"/>
              </a:xfrm>
              <a:prstGeom prst="straightConnector1">
                <a:avLst/>
              </a:prstGeom>
              <a:noFill/>
              <a:ln w="9525" cap="flat" cmpd="sng">
                <a:solidFill>
                  <a:srgbClr val="0090FF"/>
                </a:solidFill>
                <a:prstDash val="solid"/>
                <a:round/>
                <a:headEnd type="none" w="sm" len="sm"/>
                <a:tailEnd type="none" w="sm" len="sm"/>
              </a:ln>
            </p:spPr>
          </p:cxnSp>
          <p:sp>
            <p:nvSpPr>
              <p:cNvPr id="347" name="Google Shape;347;p17"/>
              <p:cNvSpPr txBox="1"/>
              <p:nvPr/>
            </p:nvSpPr>
            <p:spPr>
              <a:xfrm>
                <a:off x="2886045" y="4343522"/>
                <a:ext cx="1097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1" i="0" u="none" strike="noStrike" cap="none">
                    <a:solidFill>
                      <a:srgbClr val="000000"/>
                    </a:solidFill>
                    <a:latin typeface="Open Sans"/>
                    <a:ea typeface="Open Sans"/>
                    <a:cs typeface="Open Sans"/>
                    <a:sym typeface="Open Sans"/>
                  </a:rPr>
                  <a:t>rectangle</a:t>
                </a:r>
                <a:endParaRPr sz="1400" b="1" i="0" u="none" strike="noStrike" cap="none">
                  <a:solidFill>
                    <a:srgbClr val="000000"/>
                  </a:solidFill>
                  <a:latin typeface="Open Sans"/>
                  <a:ea typeface="Open Sans"/>
                  <a:cs typeface="Open Sans"/>
                  <a:sym typeface="Open Sans"/>
                </a:endParaRPr>
              </a:p>
            </p:txBody>
          </p:sp>
          <p:sp>
            <p:nvSpPr>
              <p:cNvPr id="348" name="Google Shape;348;p17"/>
              <p:cNvSpPr txBox="1"/>
              <p:nvPr/>
            </p:nvSpPr>
            <p:spPr>
              <a:xfrm>
                <a:off x="2617076" y="4763246"/>
                <a:ext cx="16654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calculatearea()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0000"/>
                    </a:solidFill>
                    <a:latin typeface="Open Sans"/>
                    <a:ea typeface="Open Sans"/>
                    <a:cs typeface="Open Sans"/>
                    <a:sym typeface="Open Sans"/>
                  </a:rPr>
                  <a:t>{ area = h× w }</a:t>
                </a:r>
                <a:endParaRPr sz="1400" b="0" i="0" u="none" strike="noStrike" cap="none">
                  <a:solidFill>
                    <a:srgbClr val="000000"/>
                  </a:solidFill>
                  <a:latin typeface="Open Sans"/>
                  <a:ea typeface="Open Sans"/>
                  <a:cs typeface="Open Sans"/>
                  <a:sym typeface="Open Sans"/>
                </a:endParaRPr>
              </a:p>
            </p:txBody>
          </p:sp>
        </p:grpSp>
        <p:cxnSp>
          <p:nvCxnSpPr>
            <p:cNvPr id="349" name="Google Shape;349;p17"/>
            <p:cNvCxnSpPr>
              <a:endCxn id="331" idx="2"/>
            </p:cNvCxnSpPr>
            <p:nvPr/>
          </p:nvCxnSpPr>
          <p:spPr>
            <a:xfrm rot="10800000">
              <a:off x="3892446" y="6842003"/>
              <a:ext cx="0" cy="510000"/>
            </a:xfrm>
            <a:prstGeom prst="straightConnector1">
              <a:avLst/>
            </a:prstGeom>
            <a:noFill/>
            <a:ln w="9525" cap="flat" cmpd="sng">
              <a:solidFill>
                <a:srgbClr val="347EB8"/>
              </a:solidFill>
              <a:prstDash val="solid"/>
              <a:round/>
              <a:headEnd type="none" w="sm" len="sm"/>
              <a:tailEnd type="triangle" w="med" len="med"/>
            </a:ln>
          </p:spPr>
        </p:cxn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18"/>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Encapsulation</a:t>
            </a:r>
            <a:endParaRPr/>
          </a:p>
        </p:txBody>
      </p:sp>
      <p:sp>
        <p:nvSpPr>
          <p:cNvPr id="355" name="Google Shape;355;p18"/>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Attributes in the parent class may be defined as public or private.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Public attributes: can be accessed directly by child classes.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Private attributes of a parent class: cannot be accessed directly.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Private attributes can be accessed only through class methods.</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Encapsulation allows us to write, test and maintain object codes without interfering with other object codes. </a:t>
            </a:r>
            <a:endParaRPr/>
          </a:p>
        </p:txBody>
      </p:sp>
      <p:sp>
        <p:nvSpPr>
          <p:cNvPr id="356" name="Google Shape;356;p18"/>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grpSp>
        <p:nvGrpSpPr>
          <p:cNvPr id="357" name="Google Shape;357;p18"/>
          <p:cNvGrpSpPr/>
          <p:nvPr/>
        </p:nvGrpSpPr>
        <p:grpSpPr>
          <a:xfrm>
            <a:off x="7516121" y="711701"/>
            <a:ext cx="903434" cy="903434"/>
            <a:chOff x="2594325" y="1627175"/>
            <a:chExt cx="440850" cy="440850"/>
          </a:xfrm>
        </p:grpSpPr>
        <p:sp>
          <p:nvSpPr>
            <p:cNvPr id="358" name="Google Shape;358;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19"/>
          <p:cNvSpPr txBox="1">
            <a:spLocks noGrp="1"/>
          </p:cNvSpPr>
          <p:nvPr>
            <p:ph type="title" idx="4294967295"/>
          </p:nvPr>
        </p:nvSpPr>
        <p:spPr>
          <a:xfrm>
            <a:off x="859852" y="508888"/>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Example of a library system</a:t>
            </a:r>
            <a:endParaRPr/>
          </a:p>
        </p:txBody>
      </p:sp>
      <p:sp>
        <p:nvSpPr>
          <p:cNvPr id="366" name="Google Shape;366;p19"/>
          <p:cNvSpPr txBox="1">
            <a:spLocks noGrp="1"/>
          </p:cNvSpPr>
          <p:nvPr>
            <p:ph type="body" idx="1"/>
          </p:nvPr>
        </p:nvSpPr>
        <p:spPr>
          <a:xfrm>
            <a:off x="530578" y="1569750"/>
            <a:ext cx="2575335"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400">
                <a:solidFill>
                  <a:srgbClr val="000000"/>
                </a:solidFill>
                <a:latin typeface="Open Sans"/>
                <a:ea typeface="Open Sans"/>
                <a:cs typeface="Open Sans"/>
                <a:sym typeface="Open Sans"/>
              </a:rPr>
              <a:t>Consider a library database that stores information about books and users. A simple class for a book is defined.</a:t>
            </a:r>
            <a:endParaRPr/>
          </a:p>
        </p:txBody>
      </p:sp>
      <p:sp>
        <p:nvSpPr>
          <p:cNvPr id="367" name="Google Shape;367;p19"/>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grpSp>
        <p:nvGrpSpPr>
          <p:cNvPr id="368" name="Google Shape;368;p19"/>
          <p:cNvGrpSpPr/>
          <p:nvPr/>
        </p:nvGrpSpPr>
        <p:grpSpPr>
          <a:xfrm>
            <a:off x="2967030" y="1446113"/>
            <a:ext cx="5804437" cy="3188499"/>
            <a:chOff x="2967030" y="1211029"/>
            <a:chExt cx="5804437" cy="3188499"/>
          </a:xfrm>
        </p:grpSpPr>
        <p:sp>
          <p:nvSpPr>
            <p:cNvPr id="369" name="Google Shape;369;p19"/>
            <p:cNvSpPr txBox="1"/>
            <p:nvPr/>
          </p:nvSpPr>
          <p:spPr>
            <a:xfrm>
              <a:off x="2967030" y="1211029"/>
              <a:ext cx="5678311" cy="2004000"/>
            </a:xfrm>
            <a:prstGeom prst="rect">
              <a:avLst/>
            </a:prstGeom>
            <a:noFill/>
            <a:ln>
              <a:noFill/>
            </a:ln>
          </p:spPr>
          <p:txBody>
            <a:bodyPr spcFirstLastPara="1" wrap="square" lIns="91425" tIns="91425" rIns="91425" bIns="91425" anchor="t" anchorCtr="0">
              <a:noAutofit/>
            </a:bodyPr>
            <a:lstStyle/>
            <a:p>
              <a:pPr marL="146050" marR="0" lvl="0"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class book </a:t>
              </a:r>
              <a:endParaRPr sz="1400" b="0" i="0" u="none" strike="noStrike" cap="none">
                <a:solidFill>
                  <a:srgbClr val="000000"/>
                </a:solidFill>
                <a:latin typeface="Arial"/>
                <a:ea typeface="Arial"/>
                <a:cs typeface="Arial"/>
                <a:sym typeface="Arial"/>
              </a:endParaRPr>
            </a:p>
            <a:p>
              <a:pPr marL="603250" marR="0" lvl="1"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 instance variables</a:t>
              </a:r>
              <a:endParaRPr sz="1400" b="0" i="0" u="none" strike="noStrike" cap="none">
                <a:solidFill>
                  <a:srgbClr val="000000"/>
                </a:solidFill>
                <a:latin typeface="Arial"/>
                <a:ea typeface="Arial"/>
                <a:cs typeface="Arial"/>
                <a:sym typeface="Arial"/>
              </a:endParaRPr>
            </a:p>
            <a:p>
              <a:pPr marL="603250" marR="0" lvl="1"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private bookID</a:t>
              </a:r>
              <a:endParaRPr sz="1400" b="0" i="0" u="none" strike="noStrike" cap="none">
                <a:solidFill>
                  <a:schemeClr val="dk1"/>
                </a:solidFill>
                <a:latin typeface="Open Sans"/>
                <a:ea typeface="Open Sans"/>
                <a:cs typeface="Open Sans"/>
                <a:sym typeface="Open Sans"/>
              </a:endParaRPr>
            </a:p>
            <a:p>
              <a:pPr marL="603250" marR="0" lvl="1"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private title</a:t>
              </a:r>
              <a:endParaRPr sz="1400" b="0" i="0" u="none" strike="noStrike" cap="none">
                <a:solidFill>
                  <a:srgbClr val="000000"/>
                </a:solidFill>
                <a:latin typeface="Arial"/>
                <a:ea typeface="Arial"/>
                <a:cs typeface="Arial"/>
                <a:sym typeface="Arial"/>
              </a:endParaRPr>
            </a:p>
            <a:p>
              <a:pPr marL="603250" marR="0" lvl="1"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private publisher</a:t>
              </a:r>
              <a:endParaRPr sz="1400" b="0" i="0" u="none" strike="noStrike" cap="none">
                <a:solidFill>
                  <a:srgbClr val="000000"/>
                </a:solidFill>
                <a:latin typeface="Arial"/>
                <a:ea typeface="Arial"/>
                <a:cs typeface="Arial"/>
                <a:sym typeface="Arial"/>
              </a:endParaRPr>
            </a:p>
            <a:p>
              <a:pPr marL="603250" marR="0" lvl="1"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private qtyAvailable</a:t>
              </a:r>
              <a:endParaRPr sz="1400" b="0" i="0" u="none" strike="noStrike" cap="none">
                <a:solidFill>
                  <a:schemeClr val="dk1"/>
                </a:solidFill>
                <a:latin typeface="Open Sans"/>
                <a:ea typeface="Open Sans"/>
                <a:cs typeface="Open Sans"/>
                <a:sym typeface="Open Sans"/>
              </a:endParaRPr>
            </a:p>
            <a:p>
              <a:pPr marL="146050" marR="0" lvl="0" indent="0" algn="just" rtl="0">
                <a:lnSpc>
                  <a:spcPct val="100000"/>
                </a:lnSpc>
                <a:spcBef>
                  <a:spcPts val="0"/>
                </a:spcBef>
                <a:spcAft>
                  <a:spcPts val="0"/>
                </a:spcAft>
                <a:buClr>
                  <a:schemeClr val="dk1"/>
                </a:buClr>
                <a:buSzPts val="2000"/>
                <a:buFont typeface="Open Sans"/>
                <a:buNone/>
              </a:pPr>
              <a:endParaRPr sz="1400" b="0" i="0" u="none" strike="noStrike" cap="none">
                <a:solidFill>
                  <a:schemeClr val="dk1"/>
                </a:solidFill>
                <a:latin typeface="Open Sans"/>
                <a:ea typeface="Open Sans"/>
                <a:cs typeface="Open Sans"/>
                <a:sym typeface="Open Sans"/>
              </a:endParaRPr>
            </a:p>
            <a:p>
              <a:pPr marL="447675" marR="0" lvl="0"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//Procedures</a:t>
              </a:r>
              <a:endParaRPr sz="1400" b="0" i="0" u="none" strike="noStrike" cap="none">
                <a:solidFill>
                  <a:srgbClr val="000000"/>
                </a:solidFill>
                <a:latin typeface="Arial"/>
                <a:ea typeface="Arial"/>
                <a:cs typeface="Arial"/>
                <a:sym typeface="Arial"/>
              </a:endParaRPr>
            </a:p>
            <a:p>
              <a:pPr marL="447675" marR="0" lvl="0"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//Constructor</a:t>
              </a:r>
              <a:endParaRPr sz="1400" b="0" i="0" u="none" strike="noStrike" cap="none">
                <a:solidFill>
                  <a:srgbClr val="000000"/>
                </a:solidFill>
                <a:latin typeface="Arial"/>
                <a:ea typeface="Arial"/>
                <a:cs typeface="Arial"/>
                <a:sym typeface="Arial"/>
              </a:endParaRPr>
            </a:p>
            <a:p>
              <a:pPr marL="447675" marR="0" lvl="0"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procedure new (abookID, atitle, apublisher, aqtyAvailable)</a:t>
              </a:r>
              <a:endParaRPr sz="1400" b="0" i="0" u="none" strike="noStrike" cap="none">
                <a:solidFill>
                  <a:srgbClr val="000000"/>
                </a:solidFill>
                <a:latin typeface="Arial"/>
                <a:ea typeface="Arial"/>
                <a:cs typeface="Arial"/>
                <a:sym typeface="Arial"/>
              </a:endParaRPr>
            </a:p>
            <a:p>
              <a:pPr marL="904875" marR="0" lvl="2"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 code to enter details of a new book to the library database (creating an object)</a:t>
              </a:r>
              <a:endParaRPr sz="1400" b="0" i="0" u="none" strike="noStrike" cap="none">
                <a:solidFill>
                  <a:srgbClr val="000000"/>
                </a:solidFill>
                <a:latin typeface="Arial"/>
                <a:ea typeface="Arial"/>
                <a:cs typeface="Arial"/>
                <a:sym typeface="Arial"/>
              </a:endParaRPr>
            </a:p>
            <a:p>
              <a:pPr marL="447675" marR="0" lvl="0" indent="0" algn="just" rtl="0">
                <a:lnSpc>
                  <a:spcPct val="100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end procedure</a:t>
              </a:r>
              <a:endParaRPr sz="1400" b="0" i="0" u="none" strike="noStrike" cap="none">
                <a:solidFill>
                  <a:srgbClr val="000000"/>
                </a:solidFill>
                <a:latin typeface="Arial"/>
                <a:ea typeface="Arial"/>
                <a:cs typeface="Arial"/>
                <a:sym typeface="Arial"/>
              </a:endParaRPr>
            </a:p>
            <a:p>
              <a:pPr marL="101600" marR="0" lvl="0" indent="0" algn="l" rtl="0">
                <a:lnSpc>
                  <a:spcPct val="100000"/>
                </a:lnSpc>
                <a:spcBef>
                  <a:spcPts val="600"/>
                </a:spcBef>
                <a:spcAft>
                  <a:spcPts val="0"/>
                </a:spcAft>
                <a:buClr>
                  <a:schemeClr val="dk1"/>
                </a:buClr>
                <a:buSzPts val="2000"/>
                <a:buFont typeface="Open Sans"/>
                <a:buNone/>
              </a:pPr>
              <a:endParaRPr sz="1600" b="0" i="0" u="none" strike="noStrike" cap="none">
                <a:solidFill>
                  <a:srgbClr val="000000"/>
                </a:solidFill>
                <a:latin typeface="Open Sans"/>
                <a:ea typeface="Open Sans"/>
                <a:cs typeface="Open Sans"/>
                <a:sym typeface="Open Sans"/>
              </a:endParaRPr>
            </a:p>
          </p:txBody>
        </p:sp>
        <p:sp>
          <p:nvSpPr>
            <p:cNvPr id="370" name="Google Shape;370;p19"/>
            <p:cNvSpPr/>
            <p:nvPr/>
          </p:nvSpPr>
          <p:spPr>
            <a:xfrm>
              <a:off x="3105913" y="1250987"/>
              <a:ext cx="5665554" cy="314854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71" name="Google Shape;371;p19"/>
          <p:cNvSpPr txBox="1"/>
          <p:nvPr/>
        </p:nvSpPr>
        <p:spPr>
          <a:xfrm>
            <a:off x="8000102" y="4326835"/>
            <a:ext cx="7713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1" u="none" strike="noStrike" cap="none">
                <a:solidFill>
                  <a:srgbClr val="000000"/>
                </a:solidFill>
                <a:latin typeface="Arial"/>
                <a:ea typeface="Arial"/>
                <a:cs typeface="Arial"/>
                <a:sym typeface="Arial"/>
              </a:rPr>
              <a:t>contd...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0"/>
          <p:cNvSpPr txBox="1">
            <a:spLocks noGrp="1"/>
          </p:cNvSpPr>
          <p:nvPr>
            <p:ph type="title" idx="4294967295"/>
          </p:nvPr>
        </p:nvSpPr>
        <p:spPr>
          <a:xfrm>
            <a:off x="859852" y="508888"/>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Example of a library system</a:t>
            </a:r>
            <a:endParaRPr/>
          </a:p>
        </p:txBody>
      </p:sp>
      <p:sp>
        <p:nvSpPr>
          <p:cNvPr id="377" name="Google Shape;377;p20"/>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grpSp>
        <p:nvGrpSpPr>
          <p:cNvPr id="378" name="Google Shape;378;p20"/>
          <p:cNvGrpSpPr/>
          <p:nvPr/>
        </p:nvGrpSpPr>
        <p:grpSpPr>
          <a:xfrm>
            <a:off x="2967030" y="1250987"/>
            <a:ext cx="5804437" cy="3427649"/>
            <a:chOff x="2967030" y="1250987"/>
            <a:chExt cx="5804437" cy="3427649"/>
          </a:xfrm>
        </p:grpSpPr>
        <p:sp>
          <p:nvSpPr>
            <p:cNvPr id="379" name="Google Shape;379;p20"/>
            <p:cNvSpPr txBox="1"/>
            <p:nvPr/>
          </p:nvSpPr>
          <p:spPr>
            <a:xfrm>
              <a:off x="2967030" y="1569750"/>
              <a:ext cx="5678311" cy="2004000"/>
            </a:xfrm>
            <a:prstGeom prst="rect">
              <a:avLst/>
            </a:prstGeom>
            <a:noFill/>
            <a:ln>
              <a:noFill/>
            </a:ln>
          </p:spPr>
          <p:txBody>
            <a:bodyPr spcFirstLastPara="1" wrap="square" lIns="91425" tIns="91425" rIns="91425" bIns="91425" anchor="t" anchorCtr="0">
              <a:noAutofit/>
            </a:bodyPr>
            <a:lstStyle/>
            <a:p>
              <a:pPr marL="447675"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procedure lendBook (userID)</a:t>
              </a:r>
              <a:endParaRPr sz="1400" b="0" i="0" u="none" strike="noStrike" cap="none">
                <a:solidFill>
                  <a:srgbClr val="000000"/>
                </a:solidFill>
                <a:latin typeface="Arial"/>
                <a:ea typeface="Arial"/>
                <a:cs typeface="Arial"/>
                <a:sym typeface="Arial"/>
              </a:endParaRPr>
            </a:p>
            <a:p>
              <a:pPr marL="904875"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 code to lend book to a user</a:t>
              </a:r>
              <a:endParaRPr sz="1400" b="0" i="0" u="none" strike="noStrike" cap="none">
                <a:solidFill>
                  <a:srgbClr val="000000"/>
                </a:solidFill>
                <a:latin typeface="Arial"/>
                <a:ea typeface="Arial"/>
                <a:cs typeface="Arial"/>
                <a:sym typeface="Arial"/>
              </a:endParaRPr>
            </a:p>
            <a:p>
              <a:pPr marL="447675"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end procedure</a:t>
              </a:r>
              <a:endParaRPr sz="1400" b="0" i="0" u="none" strike="noStrike" cap="none">
                <a:solidFill>
                  <a:srgbClr val="000000"/>
                </a:solidFill>
                <a:latin typeface="Arial"/>
                <a:ea typeface="Arial"/>
                <a:cs typeface="Arial"/>
                <a:sym typeface="Arial"/>
              </a:endParaRPr>
            </a:p>
            <a:p>
              <a:pPr marL="447675" marR="0" lvl="0" indent="0" algn="just" rtl="0">
                <a:lnSpc>
                  <a:spcPct val="114000"/>
                </a:lnSpc>
                <a:spcBef>
                  <a:spcPts val="0"/>
                </a:spcBef>
                <a:spcAft>
                  <a:spcPts val="0"/>
                </a:spcAft>
                <a:buClr>
                  <a:schemeClr val="dk1"/>
                </a:buClr>
                <a:buSzPts val="2000"/>
                <a:buFont typeface="Open Sans"/>
                <a:buNone/>
              </a:pPr>
              <a:endParaRPr sz="1400" b="0" i="0" u="none" strike="noStrike" cap="none">
                <a:solidFill>
                  <a:schemeClr val="dk1"/>
                </a:solidFill>
                <a:latin typeface="Open Sans"/>
                <a:ea typeface="Open Sans"/>
                <a:cs typeface="Open Sans"/>
                <a:sym typeface="Open Sans"/>
              </a:endParaRPr>
            </a:p>
            <a:p>
              <a:pPr marL="447675"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function receiveBook (userID)</a:t>
              </a:r>
              <a:endParaRPr sz="1400" b="0" i="0" u="none" strike="noStrike" cap="none">
                <a:solidFill>
                  <a:srgbClr val="000000"/>
                </a:solidFill>
                <a:latin typeface="Arial"/>
                <a:ea typeface="Arial"/>
                <a:cs typeface="Arial"/>
                <a:sym typeface="Arial"/>
              </a:endParaRPr>
            </a:p>
            <a:p>
              <a:pPr marL="904875"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 code to receive book from a user</a:t>
              </a:r>
              <a:endParaRPr sz="1400" b="0" i="0" u="none" strike="noStrike" cap="none">
                <a:solidFill>
                  <a:srgbClr val="000000"/>
                </a:solidFill>
                <a:latin typeface="Arial"/>
                <a:ea typeface="Arial"/>
                <a:cs typeface="Arial"/>
                <a:sym typeface="Arial"/>
              </a:endParaRPr>
            </a:p>
            <a:p>
              <a:pPr marL="904875"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 this is a function so that any fine calculated may be returned when this method is called</a:t>
              </a:r>
              <a:endParaRPr sz="1400" b="0" i="0" u="none" strike="noStrike" cap="none">
                <a:solidFill>
                  <a:srgbClr val="000000"/>
                </a:solidFill>
                <a:latin typeface="Arial"/>
                <a:ea typeface="Arial"/>
                <a:cs typeface="Arial"/>
                <a:sym typeface="Arial"/>
              </a:endParaRPr>
            </a:p>
            <a:p>
              <a:pPr marL="447675"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end function </a:t>
              </a:r>
              <a:endParaRPr sz="1400" b="0" i="0" u="none" strike="noStrike" cap="none">
                <a:solidFill>
                  <a:srgbClr val="000000"/>
                </a:solidFill>
                <a:latin typeface="Arial"/>
                <a:ea typeface="Arial"/>
                <a:cs typeface="Arial"/>
                <a:sym typeface="Arial"/>
              </a:endParaRPr>
            </a:p>
            <a:p>
              <a:pPr marL="146050"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end class</a:t>
              </a:r>
              <a:endParaRPr sz="1400" b="0" i="0" u="none" strike="noStrike" cap="none">
                <a:solidFill>
                  <a:srgbClr val="000000"/>
                </a:solidFill>
                <a:latin typeface="Arial"/>
                <a:ea typeface="Arial"/>
                <a:cs typeface="Arial"/>
                <a:sym typeface="Arial"/>
              </a:endParaRPr>
            </a:p>
          </p:txBody>
        </p:sp>
        <p:sp>
          <p:nvSpPr>
            <p:cNvPr id="380" name="Google Shape;380;p20"/>
            <p:cNvSpPr/>
            <p:nvPr/>
          </p:nvSpPr>
          <p:spPr>
            <a:xfrm>
              <a:off x="3105913" y="1250987"/>
              <a:ext cx="5665554" cy="342764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81" name="Google Shape;381;p20"/>
          <p:cNvSpPr txBox="1"/>
          <p:nvPr/>
        </p:nvSpPr>
        <p:spPr>
          <a:xfrm>
            <a:off x="3105913" y="1261973"/>
            <a:ext cx="7713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1" u="none" strike="noStrike" cap="none">
                <a:solidFill>
                  <a:srgbClr val="000000"/>
                </a:solidFill>
                <a:latin typeface="Arial"/>
                <a:ea typeface="Arial"/>
                <a:cs typeface="Arial"/>
                <a:sym typeface="Arial"/>
              </a:rPr>
              <a:t>cont.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1"/>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Class definition</a:t>
            </a:r>
            <a:endParaRPr/>
          </a:p>
        </p:txBody>
      </p:sp>
      <p:sp>
        <p:nvSpPr>
          <p:cNvPr id="387" name="Google Shape;387;p21"/>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Usually, the instance variables are declared using a private keyword, and the methods are declared using a public keyword.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This allows the methods of this class to be used by other classes, but still hiding the attributes of this class.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When instance variables are declared private, they cannot be accessed by other classes directly.</a:t>
            </a:r>
            <a:endParaRPr/>
          </a:p>
        </p:txBody>
      </p:sp>
      <p:sp>
        <p:nvSpPr>
          <p:cNvPr id="388" name="Google Shape;388;p21"/>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grpSp>
        <p:nvGrpSpPr>
          <p:cNvPr id="389" name="Google Shape;389;p21"/>
          <p:cNvGrpSpPr/>
          <p:nvPr/>
        </p:nvGrpSpPr>
        <p:grpSpPr>
          <a:xfrm>
            <a:off x="7516121" y="711701"/>
            <a:ext cx="903434" cy="903434"/>
            <a:chOff x="2594325" y="1627175"/>
            <a:chExt cx="440850" cy="440850"/>
          </a:xfrm>
        </p:grpSpPr>
        <p:sp>
          <p:nvSpPr>
            <p:cNvPr id="390" name="Google Shape;390;p21"/>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21"/>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21"/>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2"/>
          <p:cNvSpPr txBox="1">
            <a:spLocks noGrp="1"/>
          </p:cNvSpPr>
          <p:nvPr>
            <p:ph type="title" idx="4294967295"/>
          </p:nvPr>
        </p:nvSpPr>
        <p:spPr>
          <a:xfrm>
            <a:off x="859852" y="76465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1"/>
              </a:buClr>
              <a:buSzPts val="3000"/>
              <a:buFont typeface="Open Sans"/>
              <a:buNone/>
            </a:pPr>
            <a:r>
              <a:rPr lang="en-MY" sz="2800"/>
              <a:t>Constructor</a:t>
            </a:r>
            <a:endParaRPr/>
          </a:p>
        </p:txBody>
      </p:sp>
      <p:sp>
        <p:nvSpPr>
          <p:cNvPr id="398" name="Google Shape;398;p22"/>
          <p:cNvSpPr txBox="1">
            <a:spLocks noGrp="1"/>
          </p:cNvSpPr>
          <p:nvPr>
            <p:ph type="body" idx="1"/>
          </p:nvPr>
        </p:nvSpPr>
        <p:spPr>
          <a:xfrm>
            <a:off x="859850" y="1262377"/>
            <a:ext cx="7477200" cy="2301600"/>
          </a:xfrm>
          <a:prstGeom prst="rect">
            <a:avLst/>
          </a:prstGeom>
          <a:noFill/>
          <a:ln>
            <a:noFill/>
          </a:ln>
        </p:spPr>
        <p:txBody>
          <a:bodyPr spcFirstLastPara="1" wrap="square" lIns="91425" tIns="91425" rIns="91425" bIns="91425" anchor="t" anchorCtr="0">
            <a:noAutofit/>
          </a:bodyPr>
          <a:lstStyle/>
          <a:p>
            <a:pPr marL="431800" lvl="0" indent="-285750" algn="just" rtl="0">
              <a:lnSpc>
                <a:spcPct val="114000"/>
              </a:lnSpc>
              <a:spcBef>
                <a:spcPts val="600"/>
              </a:spcBef>
              <a:spcAft>
                <a:spcPts val="0"/>
              </a:spcAft>
              <a:buSzPts val="2000"/>
              <a:buFont typeface="Arial"/>
              <a:buChar char="•"/>
            </a:pPr>
            <a:r>
              <a:rPr lang="en-MY" sz="1600"/>
              <a:t>Constructors are subroutines used to create a new object. The attributes required for the object are also listed. For example: Consider a class rectangle that has two attributes: height and width. Creating an object representing a garden:</a:t>
            </a:r>
            <a:endParaRPr/>
          </a:p>
          <a:p>
            <a:pPr marL="603250" lvl="1" indent="0" algn="just" rtl="0">
              <a:lnSpc>
                <a:spcPct val="114000"/>
              </a:lnSpc>
              <a:spcBef>
                <a:spcPts val="600"/>
              </a:spcBef>
              <a:spcAft>
                <a:spcPts val="0"/>
              </a:spcAft>
              <a:buSzPts val="2000"/>
              <a:buNone/>
            </a:pPr>
            <a:r>
              <a:rPr lang="en-MY" sz="1600"/>
              <a:t>myGarden = new rectangle (30, 40)</a:t>
            </a:r>
            <a:endParaRPr/>
          </a:p>
          <a:p>
            <a:pPr marL="465138" lvl="1" indent="-285750" algn="just" rtl="0">
              <a:lnSpc>
                <a:spcPct val="114000"/>
              </a:lnSpc>
              <a:spcBef>
                <a:spcPts val="600"/>
              </a:spcBef>
              <a:spcAft>
                <a:spcPts val="0"/>
              </a:spcAft>
              <a:buSzPts val="2000"/>
              <a:buFont typeface="Arial"/>
              <a:buChar char="•"/>
            </a:pPr>
            <a:r>
              <a:rPr lang="en-MY" sz="1600"/>
              <a:t>Similary, creating a new object of class book,</a:t>
            </a:r>
            <a:endParaRPr/>
          </a:p>
          <a:p>
            <a:pPr marL="179388" lvl="1" indent="0" algn="just" rtl="0">
              <a:lnSpc>
                <a:spcPct val="114000"/>
              </a:lnSpc>
              <a:spcBef>
                <a:spcPts val="600"/>
              </a:spcBef>
              <a:spcAft>
                <a:spcPts val="0"/>
              </a:spcAft>
              <a:buSzPts val="2000"/>
              <a:buNone/>
            </a:pPr>
            <a:r>
              <a:rPr lang="en-MY" sz="1600"/>
              <a:t>book9716 = new book (“B9716”, “Introduction to computer science”, “Gilbert Brands”, 15)</a:t>
            </a:r>
            <a:endParaRPr/>
          </a:p>
          <a:p>
            <a:pPr marL="465138" lvl="1" indent="-285750" algn="just" rtl="0">
              <a:lnSpc>
                <a:spcPct val="114000"/>
              </a:lnSpc>
              <a:spcBef>
                <a:spcPts val="600"/>
              </a:spcBef>
              <a:spcAft>
                <a:spcPts val="0"/>
              </a:spcAft>
              <a:buSzPts val="2000"/>
              <a:buFont typeface="Arial"/>
              <a:buChar char="•"/>
            </a:pPr>
            <a:r>
              <a:rPr lang="en-MY" sz="1600"/>
              <a:t>The reference variable “book9716” holds a reference to the location where the object is stored. </a:t>
            </a:r>
            <a:endParaRPr/>
          </a:p>
        </p:txBody>
      </p:sp>
      <p:sp>
        <p:nvSpPr>
          <p:cNvPr id="399" name="Google Shape;399;p22"/>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grpSp>
        <p:nvGrpSpPr>
          <p:cNvPr id="400" name="Google Shape;400;p22"/>
          <p:cNvGrpSpPr/>
          <p:nvPr/>
        </p:nvGrpSpPr>
        <p:grpSpPr>
          <a:xfrm>
            <a:off x="7516121" y="711701"/>
            <a:ext cx="903434" cy="903434"/>
            <a:chOff x="2594325" y="1627175"/>
            <a:chExt cx="440850" cy="440850"/>
          </a:xfrm>
        </p:grpSpPr>
        <p:sp>
          <p:nvSpPr>
            <p:cNvPr id="401" name="Google Shape;401;p22"/>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22"/>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22"/>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3"/>
          <p:cNvSpPr txBox="1">
            <a:spLocks noGrp="1"/>
          </p:cNvSpPr>
          <p:nvPr>
            <p:ph type="title" idx="4294967295"/>
          </p:nvPr>
        </p:nvSpPr>
        <p:spPr>
          <a:xfrm>
            <a:off x="713096" y="914256"/>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1"/>
              </a:buClr>
              <a:buSzPts val="3000"/>
              <a:buFont typeface="Open Sans"/>
              <a:buNone/>
            </a:pPr>
            <a:r>
              <a:rPr lang="en-MY" sz="2800"/>
              <a:t>get and set methods</a:t>
            </a:r>
            <a:endParaRPr/>
          </a:p>
        </p:txBody>
      </p:sp>
      <p:sp>
        <p:nvSpPr>
          <p:cNvPr id="409" name="Google Shape;409;p23"/>
          <p:cNvSpPr txBox="1">
            <a:spLocks noGrp="1"/>
          </p:cNvSpPr>
          <p:nvPr>
            <p:ph type="body" idx="1"/>
          </p:nvPr>
        </p:nvSpPr>
        <p:spPr>
          <a:xfrm>
            <a:off x="713100" y="1490674"/>
            <a:ext cx="4005600" cy="2222700"/>
          </a:xfrm>
          <a:prstGeom prst="rect">
            <a:avLst/>
          </a:prstGeom>
          <a:noFill/>
          <a:ln>
            <a:noFill/>
          </a:ln>
        </p:spPr>
        <p:txBody>
          <a:bodyPr spcFirstLastPara="1" wrap="square" lIns="91425" tIns="91425" rIns="91425" bIns="91425" anchor="t" anchorCtr="0">
            <a:noAutofit/>
          </a:bodyPr>
          <a:lstStyle/>
          <a:p>
            <a:pPr marL="431800" lvl="0" indent="-285750" algn="just" rtl="0">
              <a:lnSpc>
                <a:spcPct val="114000"/>
              </a:lnSpc>
              <a:spcBef>
                <a:spcPts val="600"/>
              </a:spcBef>
              <a:spcAft>
                <a:spcPts val="0"/>
              </a:spcAft>
              <a:buSzPts val="2000"/>
              <a:buFont typeface="Arial"/>
              <a:buChar char="•"/>
            </a:pPr>
            <a:r>
              <a:rPr lang="en-MY" sz="1600"/>
              <a:t>Private variables of a class can be accessed by other classes using get and set methods. </a:t>
            </a:r>
            <a:endParaRPr/>
          </a:p>
          <a:p>
            <a:pPr marL="431800" lvl="0" indent="-285750" algn="just" rtl="0">
              <a:lnSpc>
                <a:spcPct val="114000"/>
              </a:lnSpc>
              <a:spcBef>
                <a:spcPts val="600"/>
              </a:spcBef>
              <a:spcAft>
                <a:spcPts val="0"/>
              </a:spcAft>
              <a:buSzPts val="2000"/>
              <a:buFont typeface="Arial"/>
              <a:buChar char="•"/>
            </a:pPr>
            <a:r>
              <a:rPr lang="en-MY" sz="1600"/>
              <a:t>The get method returns the value of the variable and the set method sets the value.</a:t>
            </a:r>
            <a:endParaRPr/>
          </a:p>
          <a:p>
            <a:pPr marL="431800" lvl="0" indent="-285750" algn="just" rtl="0">
              <a:lnSpc>
                <a:spcPct val="114000"/>
              </a:lnSpc>
              <a:spcBef>
                <a:spcPts val="600"/>
              </a:spcBef>
              <a:spcAft>
                <a:spcPts val="0"/>
              </a:spcAft>
              <a:buSzPts val="2000"/>
              <a:buFont typeface="Arial"/>
              <a:buChar char="•"/>
            </a:pPr>
            <a:r>
              <a:rPr lang="en-MY" sz="1600"/>
              <a:t>The set method takes the parameter and assigns it to the variable title. This keyword refers to the current object.</a:t>
            </a:r>
            <a:endParaRPr/>
          </a:p>
          <a:p>
            <a:pPr marL="431800" lvl="0" indent="-158750" algn="just" rtl="0">
              <a:lnSpc>
                <a:spcPct val="114000"/>
              </a:lnSpc>
              <a:spcBef>
                <a:spcPts val="600"/>
              </a:spcBef>
              <a:spcAft>
                <a:spcPts val="0"/>
              </a:spcAft>
              <a:buSzPts val="2000"/>
              <a:buFont typeface="Arial"/>
              <a:buNone/>
            </a:pPr>
            <a:endParaRPr sz="1600"/>
          </a:p>
        </p:txBody>
      </p:sp>
      <p:sp>
        <p:nvSpPr>
          <p:cNvPr id="410" name="Google Shape;410;p23"/>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grpSp>
        <p:nvGrpSpPr>
          <p:cNvPr id="411" name="Google Shape;411;p23"/>
          <p:cNvGrpSpPr/>
          <p:nvPr/>
        </p:nvGrpSpPr>
        <p:grpSpPr>
          <a:xfrm>
            <a:off x="4865511" y="986594"/>
            <a:ext cx="4179069" cy="3619272"/>
            <a:chOff x="4865511" y="1122061"/>
            <a:chExt cx="4179069" cy="3619272"/>
          </a:xfrm>
        </p:grpSpPr>
        <p:sp>
          <p:nvSpPr>
            <p:cNvPr id="412" name="Google Shape;412;p23"/>
            <p:cNvSpPr txBox="1"/>
            <p:nvPr/>
          </p:nvSpPr>
          <p:spPr>
            <a:xfrm>
              <a:off x="4865512" y="1122061"/>
              <a:ext cx="4179068" cy="2004000"/>
            </a:xfrm>
            <a:prstGeom prst="rect">
              <a:avLst/>
            </a:prstGeom>
            <a:noFill/>
            <a:ln>
              <a:noFill/>
            </a:ln>
          </p:spPr>
          <p:txBody>
            <a:bodyPr spcFirstLastPara="1" wrap="square" lIns="91425" tIns="91425" rIns="91425" bIns="91425" anchor="t" anchorCtr="0">
              <a:noAutofit/>
            </a:bodyPr>
            <a:lstStyle/>
            <a:p>
              <a:pPr marL="146050" marR="0" lvl="0"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class book {</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private String title;</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//get method</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String getTitle (){</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return title;</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//set method</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void setTitle (String newTitle) {</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this.title=newTitle;</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a:p>
              <a:pPr marL="146050" marR="0" lvl="0"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p:txBody>
        </p:sp>
        <p:sp>
          <p:nvSpPr>
            <p:cNvPr id="413" name="Google Shape;413;p23"/>
            <p:cNvSpPr/>
            <p:nvPr/>
          </p:nvSpPr>
          <p:spPr>
            <a:xfrm>
              <a:off x="4865511" y="1160053"/>
              <a:ext cx="4005659" cy="358128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4"/>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a:t>
            </a:r>
            <a:endParaRPr/>
          </a:p>
        </p:txBody>
      </p:sp>
      <p:sp>
        <p:nvSpPr>
          <p:cNvPr id="419" name="Google Shape;419;p24"/>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The keyword inherits denotes inheritance in pseudocodes. For example: </a:t>
            </a:r>
            <a:endParaRPr/>
          </a:p>
          <a:p>
            <a:pPr marL="558800" lvl="1" indent="0" algn="l" rtl="0">
              <a:lnSpc>
                <a:spcPct val="115000"/>
              </a:lnSpc>
              <a:spcBef>
                <a:spcPts val="0"/>
              </a:spcBef>
              <a:spcAft>
                <a:spcPts val="0"/>
              </a:spcAft>
              <a:buSzPts val="2000"/>
              <a:buNone/>
            </a:pPr>
            <a:r>
              <a:rPr lang="en-MY" sz="1600">
                <a:solidFill>
                  <a:srgbClr val="000000"/>
                </a:solidFill>
                <a:latin typeface="Open Sans"/>
                <a:ea typeface="Open Sans"/>
                <a:cs typeface="Open Sans"/>
                <a:sym typeface="Open Sans"/>
              </a:rPr>
              <a:t>class child_class_name inherits parent_class_name </a:t>
            </a:r>
            <a:endParaRPr/>
          </a:p>
          <a:p>
            <a:pPr marL="558800" lvl="1" indent="0" algn="l" rtl="0">
              <a:lnSpc>
                <a:spcPct val="115000"/>
              </a:lnSpc>
              <a:spcBef>
                <a:spcPts val="0"/>
              </a:spcBef>
              <a:spcAft>
                <a:spcPts val="0"/>
              </a:spcAft>
              <a:buSzPts val="2000"/>
              <a:buNone/>
            </a:pPr>
            <a:r>
              <a:rPr lang="en-MY" sz="1600">
                <a:solidFill>
                  <a:srgbClr val="000000"/>
                </a:solidFill>
                <a:latin typeface="Open Sans"/>
                <a:ea typeface="Open Sans"/>
                <a:cs typeface="Open Sans"/>
                <a:sym typeface="Open Sans"/>
              </a:rPr>
              <a:t>{</a:t>
            </a:r>
            <a:endParaRPr/>
          </a:p>
          <a:p>
            <a:pPr marL="558800" lvl="1" indent="0" algn="l" rtl="0">
              <a:lnSpc>
                <a:spcPct val="115000"/>
              </a:lnSpc>
              <a:spcBef>
                <a:spcPts val="0"/>
              </a:spcBef>
              <a:spcAft>
                <a:spcPts val="0"/>
              </a:spcAft>
              <a:buSzPts val="2000"/>
              <a:buNone/>
            </a:pPr>
            <a:r>
              <a:rPr lang="en-MY" sz="1600">
                <a:solidFill>
                  <a:srgbClr val="000000"/>
                </a:solidFill>
                <a:latin typeface="Open Sans"/>
                <a:ea typeface="Open Sans"/>
                <a:cs typeface="Open Sans"/>
                <a:sym typeface="Open Sans"/>
              </a:rPr>
              <a:t>//attributes and methods</a:t>
            </a:r>
            <a:endParaRPr/>
          </a:p>
          <a:p>
            <a:pPr marL="558800" lvl="1" indent="0" algn="l" rtl="0">
              <a:lnSpc>
                <a:spcPct val="115000"/>
              </a:lnSpc>
              <a:spcBef>
                <a:spcPts val="0"/>
              </a:spcBef>
              <a:spcAft>
                <a:spcPts val="0"/>
              </a:spcAft>
              <a:buSzPts val="2000"/>
              <a:buNone/>
            </a:pPr>
            <a:r>
              <a:rPr lang="en-MY" sz="1600">
                <a:solidFill>
                  <a:srgbClr val="000000"/>
                </a:solidFill>
                <a:latin typeface="Open Sans"/>
                <a:ea typeface="Open Sans"/>
                <a:cs typeface="Open Sans"/>
                <a:sym typeface="Open Sans"/>
              </a:rPr>
              <a:t>}</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Java, the keyword extends denotes inheritance.</a:t>
            </a:r>
            <a:endParaRPr/>
          </a:p>
        </p:txBody>
      </p:sp>
      <p:sp>
        <p:nvSpPr>
          <p:cNvPr id="420" name="Google Shape;420;p24"/>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grpSp>
        <p:nvGrpSpPr>
          <p:cNvPr id="421" name="Google Shape;421;p24"/>
          <p:cNvGrpSpPr/>
          <p:nvPr/>
        </p:nvGrpSpPr>
        <p:grpSpPr>
          <a:xfrm>
            <a:off x="7516121" y="711701"/>
            <a:ext cx="903434" cy="903434"/>
            <a:chOff x="2594325" y="1627175"/>
            <a:chExt cx="440850" cy="440850"/>
          </a:xfrm>
        </p:grpSpPr>
        <p:sp>
          <p:nvSpPr>
            <p:cNvPr id="422" name="Google Shape;422;p24"/>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24"/>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4"/>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5"/>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a:t>
            </a:r>
            <a:endParaRPr/>
          </a:p>
        </p:txBody>
      </p:sp>
      <p:sp>
        <p:nvSpPr>
          <p:cNvPr id="430" name="Google Shape;430;p25"/>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An alternate name for child class is subclass.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The parent class is also known as a superclass.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order to access non-private attributes or methods of superclass, the keyword super is used.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For example: super.variablename and super.methodName(parameters)</a:t>
            </a:r>
            <a:endParaRPr/>
          </a:p>
        </p:txBody>
      </p:sp>
      <p:sp>
        <p:nvSpPr>
          <p:cNvPr id="431" name="Google Shape;431;p25"/>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grpSp>
        <p:nvGrpSpPr>
          <p:cNvPr id="432" name="Google Shape;432;p25"/>
          <p:cNvGrpSpPr/>
          <p:nvPr/>
        </p:nvGrpSpPr>
        <p:grpSpPr>
          <a:xfrm>
            <a:off x="7516121" y="711701"/>
            <a:ext cx="903434" cy="903434"/>
            <a:chOff x="2594325" y="1627175"/>
            <a:chExt cx="440850" cy="440850"/>
          </a:xfrm>
        </p:grpSpPr>
        <p:sp>
          <p:nvSpPr>
            <p:cNvPr id="433" name="Google Shape;433;p25"/>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25"/>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25"/>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6"/>
          <p:cNvSpPr txBox="1">
            <a:spLocks noGrp="1"/>
          </p:cNvSpPr>
          <p:nvPr>
            <p:ph type="title" idx="4294967295"/>
          </p:nvPr>
        </p:nvSpPr>
        <p:spPr>
          <a:xfrm>
            <a:off x="859852" y="979824"/>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 Example</a:t>
            </a:r>
            <a:endParaRPr/>
          </a:p>
        </p:txBody>
      </p:sp>
      <p:sp>
        <p:nvSpPr>
          <p:cNvPr id="441" name="Google Shape;441;p26"/>
          <p:cNvSpPr txBox="1">
            <a:spLocks noGrp="1"/>
          </p:cNvSpPr>
          <p:nvPr>
            <p:ph type="body" idx="1"/>
          </p:nvPr>
        </p:nvSpPr>
        <p:spPr>
          <a:xfrm>
            <a:off x="711200" y="1887245"/>
            <a:ext cx="4073392" cy="2004000"/>
          </a:xfrm>
          <a:prstGeom prst="rect">
            <a:avLst/>
          </a:prstGeom>
          <a:noFill/>
          <a:ln>
            <a:noFill/>
          </a:ln>
        </p:spPr>
        <p:txBody>
          <a:bodyPr spcFirstLastPara="1" wrap="square" lIns="91425" tIns="91425" rIns="91425" bIns="91425" anchor="t" anchorCtr="0">
            <a:noAutofit/>
          </a:bodyPr>
          <a:lstStyle/>
          <a:p>
            <a:pPr marL="146050" lvl="0" indent="0" algn="l" rtl="0">
              <a:lnSpc>
                <a:spcPct val="114000"/>
              </a:lnSpc>
              <a:spcBef>
                <a:spcPts val="0"/>
              </a:spcBef>
              <a:spcAft>
                <a:spcPts val="0"/>
              </a:spcAft>
              <a:buSzPts val="2000"/>
              <a:buNone/>
            </a:pPr>
            <a:r>
              <a:rPr lang="en-MY" sz="1400"/>
              <a:t>class polygon{</a:t>
            </a:r>
            <a:endParaRPr/>
          </a:p>
          <a:p>
            <a:pPr marL="603250" lvl="1" indent="0" algn="l" rtl="0">
              <a:lnSpc>
                <a:spcPct val="114000"/>
              </a:lnSpc>
              <a:spcBef>
                <a:spcPts val="0"/>
              </a:spcBef>
              <a:spcAft>
                <a:spcPts val="0"/>
              </a:spcAft>
              <a:buSzPts val="2000"/>
              <a:buNone/>
            </a:pPr>
            <a:r>
              <a:rPr lang="en-MY" sz="1400"/>
              <a:t>private numOfsides=0;</a:t>
            </a:r>
            <a:endParaRPr/>
          </a:p>
          <a:p>
            <a:pPr marL="603250" lvl="1" indent="0" algn="l" rtl="0">
              <a:lnSpc>
                <a:spcPct val="114000"/>
              </a:lnSpc>
              <a:spcBef>
                <a:spcPts val="0"/>
              </a:spcBef>
              <a:spcAft>
                <a:spcPts val="0"/>
              </a:spcAft>
              <a:buSzPts val="2000"/>
              <a:buNone/>
            </a:pPr>
            <a:r>
              <a:rPr lang="en-MY" sz="1400"/>
              <a:t>private lenOfsides[ ];</a:t>
            </a:r>
            <a:endParaRPr/>
          </a:p>
          <a:p>
            <a:pPr marL="603250" lvl="1" indent="0" algn="l" rtl="0">
              <a:lnSpc>
                <a:spcPct val="114000"/>
              </a:lnSpc>
              <a:spcBef>
                <a:spcPts val="0"/>
              </a:spcBef>
              <a:spcAft>
                <a:spcPts val="0"/>
              </a:spcAft>
              <a:buSzPts val="2000"/>
              <a:buNone/>
            </a:pPr>
            <a:r>
              <a:rPr lang="en-MY" sz="1400"/>
              <a:t>public procedure new (int [ ] lengths)</a:t>
            </a:r>
            <a:endParaRPr/>
          </a:p>
          <a:p>
            <a:pPr marL="1060450" lvl="2" indent="0" algn="just" rtl="0">
              <a:lnSpc>
                <a:spcPct val="114000"/>
              </a:lnSpc>
              <a:spcBef>
                <a:spcPts val="0"/>
              </a:spcBef>
              <a:spcAft>
                <a:spcPts val="0"/>
              </a:spcAft>
              <a:buSzPts val="2000"/>
              <a:buNone/>
            </a:pPr>
            <a:r>
              <a:rPr lang="en-MY" sz="1400"/>
              <a:t>lenOfsides = lengths</a:t>
            </a:r>
            <a:endParaRPr/>
          </a:p>
          <a:p>
            <a:pPr marL="1060450" lvl="2" indent="0" algn="just" rtl="0">
              <a:lnSpc>
                <a:spcPct val="114000"/>
              </a:lnSpc>
              <a:spcBef>
                <a:spcPts val="0"/>
              </a:spcBef>
              <a:spcAft>
                <a:spcPts val="0"/>
              </a:spcAft>
              <a:buSzPts val="2000"/>
              <a:buNone/>
            </a:pPr>
            <a:r>
              <a:rPr lang="en-MY" sz="1400"/>
              <a:t>numOfsides = lengths.length</a:t>
            </a:r>
            <a:endParaRPr sz="1400"/>
          </a:p>
          <a:p>
            <a:pPr marL="603250" lvl="1" indent="0" algn="just" rtl="0">
              <a:lnSpc>
                <a:spcPct val="114000"/>
              </a:lnSpc>
              <a:spcBef>
                <a:spcPts val="0"/>
              </a:spcBef>
              <a:spcAft>
                <a:spcPts val="0"/>
              </a:spcAft>
              <a:buSzPts val="2000"/>
              <a:buNone/>
            </a:pPr>
            <a:r>
              <a:rPr lang="en-MY" sz="1400"/>
              <a:t>end procedure</a:t>
            </a:r>
            <a:endParaRPr/>
          </a:p>
          <a:p>
            <a:pPr marL="603250" lvl="1" indent="0" algn="just" rtl="0">
              <a:lnSpc>
                <a:spcPct val="114000"/>
              </a:lnSpc>
              <a:spcBef>
                <a:spcPts val="0"/>
              </a:spcBef>
              <a:spcAft>
                <a:spcPts val="0"/>
              </a:spcAft>
              <a:buSzPts val="2000"/>
              <a:buNone/>
            </a:pPr>
            <a:r>
              <a:rPr lang="en-MY" sz="1400"/>
              <a:t>public function calcPerimeter ( )</a:t>
            </a:r>
            <a:endParaRPr/>
          </a:p>
          <a:p>
            <a:pPr marL="1060450" lvl="2" indent="0" algn="just" rtl="0">
              <a:lnSpc>
                <a:spcPct val="114000"/>
              </a:lnSpc>
              <a:spcBef>
                <a:spcPts val="0"/>
              </a:spcBef>
              <a:spcAft>
                <a:spcPts val="0"/>
              </a:spcAft>
              <a:buSzPts val="2000"/>
              <a:buNone/>
            </a:pPr>
            <a:r>
              <a:rPr lang="en-MY" sz="1400"/>
              <a:t>//add the values in lenOfsides[] </a:t>
            </a:r>
            <a:endParaRPr/>
          </a:p>
          <a:p>
            <a:pPr marL="603250" lvl="1" indent="0" algn="just" rtl="0">
              <a:lnSpc>
                <a:spcPct val="114000"/>
              </a:lnSpc>
              <a:spcBef>
                <a:spcPts val="0"/>
              </a:spcBef>
              <a:spcAft>
                <a:spcPts val="0"/>
              </a:spcAft>
              <a:buSzPts val="2000"/>
              <a:buNone/>
            </a:pPr>
            <a:r>
              <a:rPr lang="en-MY" sz="1400"/>
              <a:t>end function</a:t>
            </a:r>
            <a:endParaRPr/>
          </a:p>
          <a:p>
            <a:pPr marL="146050" lvl="0" indent="0" algn="just" rtl="0">
              <a:lnSpc>
                <a:spcPct val="114000"/>
              </a:lnSpc>
              <a:spcBef>
                <a:spcPts val="600"/>
              </a:spcBef>
              <a:spcAft>
                <a:spcPts val="0"/>
              </a:spcAft>
              <a:buSzPts val="2000"/>
              <a:buNone/>
            </a:pPr>
            <a:r>
              <a:rPr lang="en-MY" sz="1400"/>
              <a:t>end class</a:t>
            </a:r>
            <a:endParaRPr/>
          </a:p>
        </p:txBody>
      </p:sp>
      <p:sp>
        <p:nvSpPr>
          <p:cNvPr id="442" name="Google Shape;442;p26"/>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grpSp>
        <p:nvGrpSpPr>
          <p:cNvPr id="443" name="Google Shape;443;p26"/>
          <p:cNvGrpSpPr/>
          <p:nvPr/>
        </p:nvGrpSpPr>
        <p:grpSpPr>
          <a:xfrm>
            <a:off x="7516121" y="711701"/>
            <a:ext cx="903434" cy="903434"/>
            <a:chOff x="2594325" y="1627175"/>
            <a:chExt cx="440850" cy="440850"/>
          </a:xfrm>
        </p:grpSpPr>
        <p:sp>
          <p:nvSpPr>
            <p:cNvPr id="444" name="Google Shape;444;p26"/>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26"/>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26"/>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7" name="Google Shape;447;p26"/>
          <p:cNvSpPr txBox="1"/>
          <p:nvPr/>
        </p:nvSpPr>
        <p:spPr>
          <a:xfrm>
            <a:off x="4572000" y="1887245"/>
            <a:ext cx="4073392" cy="2004000"/>
          </a:xfrm>
          <a:prstGeom prst="rect">
            <a:avLst/>
          </a:prstGeom>
          <a:noFill/>
          <a:ln>
            <a:noFill/>
          </a:ln>
        </p:spPr>
        <p:txBody>
          <a:bodyPr spcFirstLastPara="1" wrap="square" lIns="91425" tIns="91425" rIns="91425" bIns="91425" anchor="t" anchorCtr="0">
            <a:noAutofit/>
          </a:bodyPr>
          <a:lstStyle/>
          <a:p>
            <a:pPr marL="146050"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class triangle inherits polygon{</a:t>
            </a:r>
            <a:endParaRPr sz="1400" b="0" i="0" u="none" strike="noStrike" cap="none">
              <a:solidFill>
                <a:srgbClr val="000000"/>
              </a:solidFill>
              <a:latin typeface="Arial"/>
              <a:ea typeface="Arial"/>
              <a:cs typeface="Arial"/>
              <a:sym typeface="Arial"/>
            </a:endParaRPr>
          </a:p>
          <a:p>
            <a:pPr marL="603250" marR="0" lvl="1" indent="0" algn="l"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procedure new (int [ ] lengths)</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super.new(lengths)</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numOfsides = 3</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end procedure</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function calArea() </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//mathematical calculation to calculate area (1/2*b*h)</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end function</a:t>
            </a:r>
            <a:endParaRPr sz="1400" b="0" i="0" u="none" strike="noStrike" cap="none">
              <a:solidFill>
                <a:srgbClr val="000000"/>
              </a:solidFill>
              <a:latin typeface="Arial"/>
              <a:ea typeface="Arial"/>
              <a:cs typeface="Arial"/>
              <a:sym typeface="Arial"/>
            </a:endParaRPr>
          </a:p>
          <a:p>
            <a:pPr marL="146050"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p:txBody>
      </p:sp>
      <p:sp>
        <p:nvSpPr>
          <p:cNvPr id="448" name="Google Shape;448;p26"/>
          <p:cNvSpPr txBox="1"/>
          <p:nvPr/>
        </p:nvSpPr>
        <p:spPr>
          <a:xfrm>
            <a:off x="1561350" y="1638350"/>
            <a:ext cx="1294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90FF"/>
                </a:solidFill>
                <a:latin typeface="Open Sans"/>
                <a:ea typeface="Open Sans"/>
                <a:cs typeface="Open Sans"/>
                <a:sym typeface="Open Sans"/>
              </a:rPr>
              <a:t>Parent class</a:t>
            </a:r>
            <a:endParaRPr sz="1400" b="0" i="0" u="none" strike="noStrike" cap="none">
              <a:solidFill>
                <a:srgbClr val="000000"/>
              </a:solidFill>
              <a:latin typeface="Arial"/>
              <a:ea typeface="Arial"/>
              <a:cs typeface="Arial"/>
              <a:sym typeface="Arial"/>
            </a:endParaRPr>
          </a:p>
        </p:txBody>
      </p:sp>
      <p:sp>
        <p:nvSpPr>
          <p:cNvPr id="449" name="Google Shape;449;p26"/>
          <p:cNvSpPr txBox="1"/>
          <p:nvPr/>
        </p:nvSpPr>
        <p:spPr>
          <a:xfrm>
            <a:off x="5715926" y="1638350"/>
            <a:ext cx="1482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rgbClr val="0090FF"/>
                </a:solidFill>
                <a:latin typeface="Open Sans"/>
                <a:ea typeface="Open Sans"/>
                <a:cs typeface="Open Sans"/>
                <a:sym typeface="Open Sans"/>
              </a:rPr>
              <a:t>Child class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7"/>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Inheritance: Example</a:t>
            </a:r>
            <a:endParaRPr/>
          </a:p>
        </p:txBody>
      </p:sp>
      <p:sp>
        <p:nvSpPr>
          <p:cNvPr id="455" name="Google Shape;455;p27"/>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this program, polygon class is the parent class. The class triangle inherits its attributes and method.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addition to that, the triangle has its own function to calculate the area. </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The polygon class can be further inherited by a rectangle, pentagon, hexagon and other polygons. </a:t>
            </a:r>
            <a:endParaRPr/>
          </a:p>
        </p:txBody>
      </p:sp>
      <p:sp>
        <p:nvSpPr>
          <p:cNvPr id="456" name="Google Shape;456;p27"/>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grpSp>
        <p:nvGrpSpPr>
          <p:cNvPr id="457" name="Google Shape;457;p27"/>
          <p:cNvGrpSpPr/>
          <p:nvPr/>
        </p:nvGrpSpPr>
        <p:grpSpPr>
          <a:xfrm>
            <a:off x="7516121" y="711701"/>
            <a:ext cx="903434" cy="903434"/>
            <a:chOff x="2594325" y="1627175"/>
            <a:chExt cx="440850" cy="440850"/>
          </a:xfrm>
        </p:grpSpPr>
        <p:sp>
          <p:nvSpPr>
            <p:cNvPr id="458" name="Google Shape;458;p27"/>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27"/>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27"/>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8"/>
          <p:cNvSpPr txBox="1">
            <a:spLocks noGrp="1"/>
          </p:cNvSpPr>
          <p:nvPr>
            <p:ph type="title" idx="4294967295"/>
          </p:nvPr>
        </p:nvSpPr>
        <p:spPr>
          <a:xfrm>
            <a:off x="690518"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Polymorphism</a:t>
            </a:r>
            <a:endParaRPr sz="2800"/>
          </a:p>
        </p:txBody>
      </p:sp>
      <p:sp>
        <p:nvSpPr>
          <p:cNvPr id="466" name="Google Shape;466;p28"/>
          <p:cNvSpPr txBox="1">
            <a:spLocks noGrp="1"/>
          </p:cNvSpPr>
          <p:nvPr>
            <p:ph type="body" idx="1"/>
          </p:nvPr>
        </p:nvSpPr>
        <p:spPr>
          <a:xfrm>
            <a:off x="521185" y="2024490"/>
            <a:ext cx="4558815" cy="2004000"/>
          </a:xfrm>
          <a:prstGeom prst="rect">
            <a:avLst/>
          </a:prstGeom>
          <a:noFill/>
          <a:ln>
            <a:noFill/>
          </a:ln>
        </p:spPr>
        <p:txBody>
          <a:bodyPr spcFirstLastPara="1" wrap="square" lIns="91425" tIns="91425" rIns="91425" bIns="91425" anchor="t" anchorCtr="0">
            <a:noAutofit/>
          </a:bodyPr>
          <a:lstStyle/>
          <a:p>
            <a:pPr marL="431800" lvl="0" indent="-285750" algn="just" rtl="0">
              <a:lnSpc>
                <a:spcPct val="114000"/>
              </a:lnSpc>
              <a:spcBef>
                <a:spcPts val="600"/>
              </a:spcBef>
              <a:spcAft>
                <a:spcPts val="0"/>
              </a:spcAft>
              <a:buSzPts val="2000"/>
              <a:buFont typeface="Arial"/>
              <a:buChar char="•"/>
            </a:pPr>
            <a:r>
              <a:rPr lang="en-MY" sz="1600"/>
              <a:t>Consider the parent class and child class in the given example.</a:t>
            </a:r>
            <a:endParaRPr/>
          </a:p>
          <a:p>
            <a:pPr marL="431800" lvl="0" indent="-285750" algn="just" rtl="0">
              <a:lnSpc>
                <a:spcPct val="114000"/>
              </a:lnSpc>
              <a:spcBef>
                <a:spcPts val="600"/>
              </a:spcBef>
              <a:spcAft>
                <a:spcPts val="0"/>
              </a:spcAft>
              <a:buSzPts val="2000"/>
              <a:buFont typeface="Arial"/>
              <a:buChar char="•"/>
            </a:pPr>
            <a:r>
              <a:rPr lang="en-MY" sz="1600"/>
              <a:t>It can be noticed that procedure display() is inherited from the parent class but is  also defined in the child class. This is called overriding. </a:t>
            </a:r>
            <a:endParaRPr/>
          </a:p>
        </p:txBody>
      </p:sp>
      <p:sp>
        <p:nvSpPr>
          <p:cNvPr id="467" name="Google Shape;467;p28"/>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grpSp>
        <p:nvGrpSpPr>
          <p:cNvPr id="468" name="Google Shape;468;p28"/>
          <p:cNvGrpSpPr/>
          <p:nvPr/>
        </p:nvGrpSpPr>
        <p:grpSpPr>
          <a:xfrm>
            <a:off x="5215467" y="888043"/>
            <a:ext cx="3486371" cy="3646311"/>
            <a:chOff x="5215467" y="888043"/>
            <a:chExt cx="3486371" cy="3646311"/>
          </a:xfrm>
        </p:grpSpPr>
        <p:sp>
          <p:nvSpPr>
            <p:cNvPr id="469" name="Google Shape;469;p28"/>
            <p:cNvSpPr txBox="1"/>
            <p:nvPr/>
          </p:nvSpPr>
          <p:spPr>
            <a:xfrm>
              <a:off x="5215467" y="943956"/>
              <a:ext cx="3407349" cy="2004000"/>
            </a:xfrm>
            <a:prstGeom prst="rect">
              <a:avLst/>
            </a:prstGeom>
            <a:noFill/>
            <a:ln>
              <a:noFill/>
            </a:ln>
          </p:spPr>
          <p:txBody>
            <a:bodyPr spcFirstLastPara="1" wrap="square" lIns="91425" tIns="91425" rIns="91425" bIns="91425" anchor="t" anchorCtr="0">
              <a:noAutofit/>
            </a:bodyPr>
            <a:lstStyle/>
            <a:p>
              <a:pPr marL="146050" marR="0" lvl="0"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class parentClass{</a:t>
              </a:r>
              <a:endParaRPr sz="1400" b="0" i="0" u="none" strike="noStrike" cap="none">
                <a:solidFill>
                  <a:srgbClr val="000000"/>
                </a:solidFill>
                <a:latin typeface="Arial"/>
                <a:ea typeface="Arial"/>
                <a:cs typeface="Arial"/>
                <a:sym typeface="Arial"/>
              </a:endParaRPr>
            </a:p>
            <a:p>
              <a:pPr marL="603250" marR="0" lvl="1"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procedure display() {</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print(‘Parent class’)</a:t>
              </a:r>
              <a:endParaRPr sz="1400" b="0" i="0" u="none" strike="noStrike" cap="none">
                <a:solidFill>
                  <a:srgbClr val="000000"/>
                </a:solidFill>
                <a:latin typeface="Arial"/>
                <a:ea typeface="Arial"/>
                <a:cs typeface="Arial"/>
                <a:sym typeface="Arial"/>
              </a:endParaRPr>
            </a:p>
            <a:p>
              <a:pPr marL="627063"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a:p>
              <a:pPr marL="146050" marR="0" lvl="0" indent="0" algn="just" rtl="0">
                <a:lnSpc>
                  <a:spcPct val="114000"/>
                </a:lnSpc>
                <a:spcBef>
                  <a:spcPts val="60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a:p>
              <a:pPr marL="146050"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class childClass inherits parentClass{</a:t>
              </a:r>
              <a:endParaRPr sz="1400" b="0" i="0" u="none" strike="noStrike" cap="none">
                <a:solidFill>
                  <a:srgbClr val="000000"/>
                </a:solidFill>
                <a:latin typeface="Arial"/>
                <a:ea typeface="Arial"/>
                <a:cs typeface="Arial"/>
                <a:sym typeface="Arial"/>
              </a:endParaRPr>
            </a:p>
            <a:p>
              <a:pPr marL="627063"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//declare private instance variables for child class</a:t>
              </a:r>
              <a:endParaRPr sz="1400" b="0" i="0" u="none" strike="noStrike" cap="none">
                <a:solidFill>
                  <a:srgbClr val="000000"/>
                </a:solidFill>
                <a:latin typeface="Arial"/>
                <a:ea typeface="Arial"/>
                <a:cs typeface="Arial"/>
                <a:sym typeface="Arial"/>
              </a:endParaRPr>
            </a:p>
            <a:p>
              <a:pPr marL="603250" marR="0" lvl="1" indent="0" algn="l"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public procedure display () {</a:t>
              </a:r>
              <a:endParaRPr sz="1400" b="0" i="0" u="none" strike="noStrike" cap="none">
                <a:solidFill>
                  <a:srgbClr val="000000"/>
                </a:solidFill>
                <a:latin typeface="Arial"/>
                <a:ea typeface="Arial"/>
                <a:cs typeface="Arial"/>
                <a:sym typeface="Arial"/>
              </a:endParaRPr>
            </a:p>
            <a:p>
              <a:pPr marL="1060450" marR="0" lvl="2"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print(‘Child class’)</a:t>
              </a:r>
              <a:endParaRPr sz="1400" b="0" i="0" u="none" strike="noStrike" cap="none">
                <a:solidFill>
                  <a:srgbClr val="000000"/>
                </a:solidFill>
                <a:latin typeface="Arial"/>
                <a:ea typeface="Arial"/>
                <a:cs typeface="Arial"/>
                <a:sym typeface="Arial"/>
              </a:endParaRPr>
            </a:p>
            <a:p>
              <a:pPr marL="627063"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a:p>
              <a:pPr marL="146050" marR="0" lvl="0" indent="0" algn="just" rtl="0">
                <a:lnSpc>
                  <a:spcPct val="114000"/>
                </a:lnSpc>
                <a:spcBef>
                  <a:spcPts val="0"/>
                </a:spcBef>
                <a:spcAft>
                  <a:spcPts val="0"/>
                </a:spcAft>
                <a:buClr>
                  <a:schemeClr val="dk1"/>
                </a:buClr>
                <a:buSzPts val="2000"/>
                <a:buFont typeface="Open Sans"/>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p:txBody>
        </p:sp>
        <p:sp>
          <p:nvSpPr>
            <p:cNvPr id="470" name="Google Shape;470;p28"/>
            <p:cNvSpPr/>
            <p:nvPr/>
          </p:nvSpPr>
          <p:spPr>
            <a:xfrm>
              <a:off x="5294489" y="888043"/>
              <a:ext cx="3407349" cy="3646311"/>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0"/>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Association</a:t>
            </a:r>
            <a:endParaRPr/>
          </a:p>
        </p:txBody>
      </p:sp>
      <p:sp>
        <p:nvSpPr>
          <p:cNvPr id="476" name="Google Shape;476;p40"/>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Inheritance is based on “is a” relationship. For example, bird is an animal.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Similarly, association is based on “has a” relationship.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Objects may be associated with each other in a bi-directional manner.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An association shows a relationship between two or more objects, whose instances have some connections, but no one is responsible for the creation of the other.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For example, in an online marketplace, a shop has a customer, and a customer has a shop. But there is no ownership between the two objects and each of them can be created or deleted independently. </a:t>
            </a:r>
            <a:endParaRPr/>
          </a:p>
        </p:txBody>
      </p:sp>
      <p:sp>
        <p:nvSpPr>
          <p:cNvPr id="477" name="Google Shape;477;p40"/>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grpSp>
        <p:nvGrpSpPr>
          <p:cNvPr id="478" name="Google Shape;478;p40"/>
          <p:cNvGrpSpPr/>
          <p:nvPr/>
        </p:nvGrpSpPr>
        <p:grpSpPr>
          <a:xfrm>
            <a:off x="7516121" y="711701"/>
            <a:ext cx="903434" cy="903434"/>
            <a:chOff x="2594325" y="1627175"/>
            <a:chExt cx="440850" cy="440850"/>
          </a:xfrm>
        </p:grpSpPr>
        <p:sp>
          <p:nvSpPr>
            <p:cNvPr id="479" name="Google Shape;479;p40"/>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40"/>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40"/>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41"/>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Aggregation</a:t>
            </a:r>
            <a:endParaRPr/>
          </a:p>
        </p:txBody>
      </p:sp>
      <p:sp>
        <p:nvSpPr>
          <p:cNvPr id="487" name="Google Shape;487;p41"/>
          <p:cNvSpPr txBox="1">
            <a:spLocks noGrp="1"/>
          </p:cNvSpPr>
          <p:nvPr>
            <p:ph type="body" idx="1"/>
          </p:nvPr>
        </p:nvSpPr>
        <p:spPr>
          <a:xfrm>
            <a:off x="859852" y="1822867"/>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An aggregation is a specialised form of association that specifies a whole-part relationship between the aggregate and the component part, where the existence of the part is optional.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For example, a customer who is part of a bank. Bank and customer objects are independent.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If the bank goes out of business, the customers do not disappear, they move to another bank. Aggregation is shown using a hollow diamond shape.</a:t>
            </a:r>
            <a:endParaRPr/>
          </a:p>
        </p:txBody>
      </p:sp>
      <p:sp>
        <p:nvSpPr>
          <p:cNvPr id="488" name="Google Shape;488;p41"/>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30</a:t>
            </a:fld>
            <a:endParaRPr sz="1400" b="0" i="0" u="none" strike="noStrike" cap="none">
              <a:solidFill>
                <a:srgbClr val="000000"/>
              </a:solidFill>
              <a:latin typeface="Arial"/>
              <a:ea typeface="Arial"/>
              <a:cs typeface="Arial"/>
              <a:sym typeface="Arial"/>
            </a:endParaRPr>
          </a:p>
        </p:txBody>
      </p:sp>
      <p:grpSp>
        <p:nvGrpSpPr>
          <p:cNvPr id="489" name="Google Shape;489;p41"/>
          <p:cNvGrpSpPr/>
          <p:nvPr/>
        </p:nvGrpSpPr>
        <p:grpSpPr>
          <a:xfrm>
            <a:off x="7516121" y="711701"/>
            <a:ext cx="903434" cy="903434"/>
            <a:chOff x="2594325" y="1627175"/>
            <a:chExt cx="440850" cy="440850"/>
          </a:xfrm>
        </p:grpSpPr>
        <p:sp>
          <p:nvSpPr>
            <p:cNvPr id="490" name="Google Shape;490;p41"/>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41"/>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41"/>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493" name="Google Shape;493;p41"/>
          <p:cNvPicPr preferRelativeResize="0"/>
          <p:nvPr/>
        </p:nvPicPr>
        <p:blipFill rotWithShape="1">
          <a:blip r:embed="rId3">
            <a:alphaModFix/>
          </a:blip>
          <a:srcRect/>
          <a:stretch/>
        </p:blipFill>
        <p:spPr>
          <a:xfrm>
            <a:off x="2348089" y="3965510"/>
            <a:ext cx="4447822" cy="5414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2"/>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Composition</a:t>
            </a:r>
            <a:endParaRPr/>
          </a:p>
        </p:txBody>
      </p:sp>
      <p:sp>
        <p:nvSpPr>
          <p:cNvPr id="499" name="Google Shape;499;p42"/>
          <p:cNvSpPr txBox="1">
            <a:spLocks noGrp="1"/>
          </p:cNvSpPr>
          <p:nvPr>
            <p:ph type="body" idx="1"/>
          </p:nvPr>
        </p:nvSpPr>
        <p:spPr>
          <a:xfrm>
            <a:off x="859852" y="1822867"/>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A composition is a specialised form of aggregation having a whole-part relationship, where the part has to exist within the whole.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In composition, the objects are not independent of each other. For example, a bank has several branches. </a:t>
            </a:r>
            <a:endParaRPr/>
          </a:p>
          <a:p>
            <a:pPr marL="457200" lvl="0" indent="-355600" algn="l" rtl="0">
              <a:lnSpc>
                <a:spcPct val="115000"/>
              </a:lnSpc>
              <a:spcBef>
                <a:spcPts val="600"/>
              </a:spcBef>
              <a:spcAft>
                <a:spcPts val="0"/>
              </a:spcAft>
              <a:buSzPts val="1400"/>
              <a:buChar char="▪"/>
            </a:pPr>
            <a:r>
              <a:rPr lang="en-MY" sz="1400">
                <a:solidFill>
                  <a:srgbClr val="000000"/>
                </a:solidFill>
                <a:latin typeface="Open Sans"/>
                <a:ea typeface="Open Sans"/>
                <a:cs typeface="Open Sans"/>
                <a:sym typeface="Open Sans"/>
              </a:rPr>
              <a:t>If a bank goes out of business, its branches are closed. Composition is shown using a filled diamond shape.</a:t>
            </a:r>
            <a:endParaRPr/>
          </a:p>
        </p:txBody>
      </p:sp>
      <p:sp>
        <p:nvSpPr>
          <p:cNvPr id="500" name="Google Shape;500;p42"/>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grpSp>
        <p:nvGrpSpPr>
          <p:cNvPr id="501" name="Google Shape;501;p42"/>
          <p:cNvGrpSpPr/>
          <p:nvPr/>
        </p:nvGrpSpPr>
        <p:grpSpPr>
          <a:xfrm>
            <a:off x="7516121" y="711701"/>
            <a:ext cx="903434" cy="903434"/>
            <a:chOff x="2594325" y="1627175"/>
            <a:chExt cx="440850" cy="440850"/>
          </a:xfrm>
        </p:grpSpPr>
        <p:sp>
          <p:nvSpPr>
            <p:cNvPr id="502" name="Google Shape;502;p42"/>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42"/>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42"/>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505" name="Google Shape;505;p42"/>
          <p:cNvPicPr preferRelativeResize="0"/>
          <p:nvPr/>
        </p:nvPicPr>
        <p:blipFill rotWithShape="1">
          <a:blip r:embed="rId3">
            <a:alphaModFix/>
          </a:blip>
          <a:srcRect/>
          <a:stretch/>
        </p:blipFill>
        <p:spPr>
          <a:xfrm>
            <a:off x="2404533" y="3923421"/>
            <a:ext cx="4334934" cy="52768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3"/>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Types of access modifiers</a:t>
            </a:r>
            <a:endParaRPr/>
          </a:p>
        </p:txBody>
      </p:sp>
      <p:sp>
        <p:nvSpPr>
          <p:cNvPr id="511" name="Google Shape;511;p43"/>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Public: If a method or instance variable is declared public, then code within any class can access it. In class diagrams, these variables and methods are denoted using + symbol.</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Private: If a method or instance variable is declared private, then only code within the class itself can access it. This is the most restrictive modifier. In class diagrams, these variables and methods are denoted using - symbol.</a:t>
            </a:r>
            <a:endParaRPr/>
          </a:p>
        </p:txBody>
      </p:sp>
      <p:sp>
        <p:nvSpPr>
          <p:cNvPr id="512" name="Google Shape;512;p43"/>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32</a:t>
            </a:fld>
            <a:endParaRPr sz="1400" b="0" i="0" u="none" strike="noStrike" cap="none">
              <a:solidFill>
                <a:srgbClr val="000000"/>
              </a:solidFill>
              <a:latin typeface="Arial"/>
              <a:ea typeface="Arial"/>
              <a:cs typeface="Arial"/>
              <a:sym typeface="Arial"/>
            </a:endParaRPr>
          </a:p>
        </p:txBody>
      </p:sp>
      <p:grpSp>
        <p:nvGrpSpPr>
          <p:cNvPr id="513" name="Google Shape;513;p43"/>
          <p:cNvGrpSpPr/>
          <p:nvPr/>
        </p:nvGrpSpPr>
        <p:grpSpPr>
          <a:xfrm>
            <a:off x="7516121" y="711701"/>
            <a:ext cx="903434" cy="903434"/>
            <a:chOff x="2594325" y="1627175"/>
            <a:chExt cx="440850" cy="440850"/>
          </a:xfrm>
        </p:grpSpPr>
        <p:sp>
          <p:nvSpPr>
            <p:cNvPr id="514" name="Google Shape;514;p43"/>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43"/>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43"/>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4"/>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Types of access modifiers</a:t>
            </a:r>
            <a:endParaRPr/>
          </a:p>
        </p:txBody>
      </p:sp>
      <p:sp>
        <p:nvSpPr>
          <p:cNvPr id="522" name="Google Shape;522;p44"/>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Protected: The access to private methods or variables differs with programming languages. In some languages, access is restricted to the members of a subclass. In others, the access is restricted to members in the same package or library of classes. In class diagrams, these variables and methods are denoted using # symbol.</a:t>
            </a:r>
            <a:endParaRPr/>
          </a:p>
        </p:txBody>
      </p:sp>
      <p:sp>
        <p:nvSpPr>
          <p:cNvPr id="523" name="Google Shape;523;p44"/>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33</a:t>
            </a:fld>
            <a:endParaRPr sz="1400" b="0" i="0" u="none" strike="noStrike" cap="none">
              <a:solidFill>
                <a:srgbClr val="000000"/>
              </a:solidFill>
              <a:latin typeface="Arial"/>
              <a:ea typeface="Arial"/>
              <a:cs typeface="Arial"/>
              <a:sym typeface="Arial"/>
            </a:endParaRPr>
          </a:p>
        </p:txBody>
      </p:sp>
      <p:grpSp>
        <p:nvGrpSpPr>
          <p:cNvPr id="524" name="Google Shape;524;p44"/>
          <p:cNvGrpSpPr/>
          <p:nvPr/>
        </p:nvGrpSpPr>
        <p:grpSpPr>
          <a:xfrm>
            <a:off x="7516121" y="711701"/>
            <a:ext cx="903434" cy="903434"/>
            <a:chOff x="2594325" y="1627175"/>
            <a:chExt cx="440850" cy="440850"/>
          </a:xfrm>
        </p:grpSpPr>
        <p:sp>
          <p:nvSpPr>
            <p:cNvPr id="525" name="Google Shape;525;p44"/>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44"/>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44"/>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45"/>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Methods</a:t>
            </a:r>
            <a:endParaRPr/>
          </a:p>
        </p:txBody>
      </p:sp>
      <p:sp>
        <p:nvSpPr>
          <p:cNvPr id="533" name="Google Shape;533;p45"/>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Methods can be set up in three different ways based on data associated with the method and when the method needs to be run:</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Static: Methods that can be used even without instantiating an object of the class.</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Virtual: This is a feature of polymorphism. The method is defined in the base class and refined in the derived class.</a:t>
            </a:r>
            <a:endParaRPr/>
          </a:p>
        </p:txBody>
      </p:sp>
      <p:sp>
        <p:nvSpPr>
          <p:cNvPr id="534" name="Google Shape;534;p45"/>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34</a:t>
            </a:fld>
            <a:endParaRPr sz="1400" b="0" i="0" u="none" strike="noStrike" cap="none">
              <a:solidFill>
                <a:srgbClr val="000000"/>
              </a:solidFill>
              <a:latin typeface="Arial"/>
              <a:ea typeface="Arial"/>
              <a:cs typeface="Arial"/>
              <a:sym typeface="Arial"/>
            </a:endParaRPr>
          </a:p>
        </p:txBody>
      </p:sp>
      <p:grpSp>
        <p:nvGrpSpPr>
          <p:cNvPr id="535" name="Google Shape;535;p45"/>
          <p:cNvGrpSpPr/>
          <p:nvPr/>
        </p:nvGrpSpPr>
        <p:grpSpPr>
          <a:xfrm>
            <a:off x="7516121" y="711701"/>
            <a:ext cx="903434" cy="903434"/>
            <a:chOff x="2594325" y="1627175"/>
            <a:chExt cx="440850" cy="440850"/>
          </a:xfrm>
        </p:grpSpPr>
        <p:sp>
          <p:nvSpPr>
            <p:cNvPr id="536" name="Google Shape;536;p45"/>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45"/>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45"/>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6"/>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Methods</a:t>
            </a:r>
            <a:endParaRPr/>
          </a:p>
        </p:txBody>
      </p:sp>
      <p:sp>
        <p:nvSpPr>
          <p:cNvPr id="544" name="Google Shape;544;p46"/>
          <p:cNvSpPr txBox="1">
            <a:spLocks noGrp="1"/>
          </p:cNvSpPr>
          <p:nvPr>
            <p:ph type="body" idx="1"/>
          </p:nvPr>
        </p:nvSpPr>
        <p:spPr>
          <a:xfrm>
            <a:off x="859852" y="2024490"/>
            <a:ext cx="7279437"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Abstract: Abstract methods are defined without an implementation (without braces, followed by a semicolon).</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A class that includes abstract methods must be declared as an abstract class. </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Abstract classes cannot be instantiated. However, they can be derived. </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The subclasses provide the implementation of the abstract methods in parent class.</a:t>
            </a:r>
            <a:endParaRPr/>
          </a:p>
        </p:txBody>
      </p:sp>
      <p:sp>
        <p:nvSpPr>
          <p:cNvPr id="545" name="Google Shape;545;p46"/>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35</a:t>
            </a:fld>
            <a:endParaRPr sz="1400" b="0" i="0" u="none" strike="noStrike" cap="none">
              <a:solidFill>
                <a:srgbClr val="000000"/>
              </a:solidFill>
              <a:latin typeface="Arial"/>
              <a:ea typeface="Arial"/>
              <a:cs typeface="Arial"/>
              <a:sym typeface="Arial"/>
            </a:endParaRPr>
          </a:p>
        </p:txBody>
      </p:sp>
      <p:grpSp>
        <p:nvGrpSpPr>
          <p:cNvPr id="546" name="Google Shape;546;p46"/>
          <p:cNvGrpSpPr/>
          <p:nvPr/>
        </p:nvGrpSpPr>
        <p:grpSpPr>
          <a:xfrm>
            <a:off x="7516121" y="711701"/>
            <a:ext cx="903434" cy="903434"/>
            <a:chOff x="2594325" y="1627175"/>
            <a:chExt cx="440850" cy="440850"/>
          </a:xfrm>
        </p:grpSpPr>
        <p:sp>
          <p:nvSpPr>
            <p:cNvPr id="547" name="Google Shape;547;p46"/>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46"/>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46"/>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7"/>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Design principles</a:t>
            </a:r>
            <a:endParaRPr/>
          </a:p>
        </p:txBody>
      </p:sp>
      <p:sp>
        <p:nvSpPr>
          <p:cNvPr id="555" name="Google Shape;555;p47"/>
          <p:cNvSpPr txBox="1">
            <a:spLocks noGrp="1"/>
          </p:cNvSpPr>
          <p:nvPr>
            <p:ph type="body" idx="1"/>
          </p:nvPr>
        </p:nvSpPr>
        <p:spPr>
          <a:xfrm>
            <a:off x="859852" y="2024490"/>
            <a:ext cx="7279437"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The key design principles followed during object-oriented programming:</a:t>
            </a:r>
            <a:endParaRPr/>
          </a:p>
          <a:p>
            <a:pPr marL="457200" lvl="0" indent="-355600" algn="l" rtl="0">
              <a:lnSpc>
                <a:spcPct val="115000"/>
              </a:lnSpc>
              <a:spcBef>
                <a:spcPts val="600"/>
              </a:spcBef>
              <a:spcAft>
                <a:spcPts val="0"/>
              </a:spcAft>
              <a:buSzPts val="1600"/>
              <a:buChar char="▪"/>
            </a:pPr>
            <a:r>
              <a:rPr lang="en-MY" sz="1600" b="0" i="0" u="none" strike="noStrike" cap="none">
                <a:solidFill>
                  <a:schemeClr val="dk1"/>
                </a:solidFill>
                <a:latin typeface="Open Sans"/>
                <a:ea typeface="Open Sans"/>
                <a:cs typeface="Open Sans"/>
                <a:sym typeface="Open Sans"/>
              </a:rPr>
              <a:t>Programming to an interface</a:t>
            </a:r>
            <a:endParaRPr/>
          </a:p>
          <a:p>
            <a:pPr marL="457200" lvl="0" indent="-355600" algn="l" rtl="0">
              <a:lnSpc>
                <a:spcPct val="115000"/>
              </a:lnSpc>
              <a:spcBef>
                <a:spcPts val="600"/>
              </a:spcBef>
              <a:spcAft>
                <a:spcPts val="0"/>
              </a:spcAft>
              <a:buSzPts val="1600"/>
              <a:buChar char="▪"/>
            </a:pPr>
            <a:r>
              <a:rPr lang="en-MY" sz="1600" b="0" i="0" u="none" strike="noStrike" cap="none">
                <a:solidFill>
                  <a:srgbClr val="000000"/>
                </a:solidFill>
              </a:rPr>
              <a:t>Favour composition over inheritance</a:t>
            </a:r>
            <a:endParaRPr/>
          </a:p>
          <a:p>
            <a:pPr marL="457200" lvl="0" indent="-355600" algn="l" rtl="0">
              <a:lnSpc>
                <a:spcPct val="115000"/>
              </a:lnSpc>
              <a:spcBef>
                <a:spcPts val="600"/>
              </a:spcBef>
              <a:spcAft>
                <a:spcPts val="0"/>
              </a:spcAft>
              <a:buSzPts val="1600"/>
              <a:buChar char="▪"/>
            </a:pPr>
            <a:r>
              <a:rPr lang="en-MY" sz="1600" b="0" i="0" u="none" strike="noStrike" cap="none">
                <a:solidFill>
                  <a:srgbClr val="000000"/>
                </a:solidFill>
              </a:rPr>
              <a:t>Encapsulate what varies</a:t>
            </a:r>
            <a:endParaRPr/>
          </a:p>
        </p:txBody>
      </p:sp>
      <p:sp>
        <p:nvSpPr>
          <p:cNvPr id="556" name="Google Shape;556;p47"/>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grpSp>
        <p:nvGrpSpPr>
          <p:cNvPr id="557" name="Google Shape;557;p47"/>
          <p:cNvGrpSpPr/>
          <p:nvPr/>
        </p:nvGrpSpPr>
        <p:grpSpPr>
          <a:xfrm>
            <a:off x="7516121" y="711701"/>
            <a:ext cx="903434" cy="903434"/>
            <a:chOff x="2594325" y="1627175"/>
            <a:chExt cx="440850" cy="440850"/>
          </a:xfrm>
        </p:grpSpPr>
        <p:sp>
          <p:nvSpPr>
            <p:cNvPr id="558" name="Google Shape;558;p47"/>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47"/>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47"/>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8"/>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Programming to an interface</a:t>
            </a:r>
            <a:endParaRPr/>
          </a:p>
        </p:txBody>
      </p:sp>
      <p:sp>
        <p:nvSpPr>
          <p:cNvPr id="566" name="Google Shape;566;p48"/>
          <p:cNvSpPr txBox="1">
            <a:spLocks noGrp="1"/>
          </p:cNvSpPr>
          <p:nvPr>
            <p:ph type="body" idx="1"/>
          </p:nvPr>
        </p:nvSpPr>
        <p:spPr>
          <a:xfrm>
            <a:off x="859853" y="1911601"/>
            <a:ext cx="4355614"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Interface is a collection of abstract methods that a group of unrelated classes may implement. </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Methods are only specified in the interface. The methods are implemented by the class that implements the interface. </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Defining an interface is just like defining a class. </a:t>
            </a:r>
            <a:endParaRPr/>
          </a:p>
        </p:txBody>
      </p:sp>
      <p:sp>
        <p:nvSpPr>
          <p:cNvPr id="567" name="Google Shape;567;p48"/>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37</a:t>
            </a:fld>
            <a:endParaRPr sz="1400" b="0" i="0" u="none" strike="noStrike" cap="none">
              <a:solidFill>
                <a:srgbClr val="000000"/>
              </a:solidFill>
              <a:latin typeface="Arial"/>
              <a:ea typeface="Arial"/>
              <a:cs typeface="Arial"/>
              <a:sym typeface="Arial"/>
            </a:endParaRPr>
          </a:p>
        </p:txBody>
      </p:sp>
      <p:grpSp>
        <p:nvGrpSpPr>
          <p:cNvPr id="568" name="Google Shape;568;p48"/>
          <p:cNvGrpSpPr/>
          <p:nvPr/>
        </p:nvGrpSpPr>
        <p:grpSpPr>
          <a:xfrm>
            <a:off x="7516121" y="711701"/>
            <a:ext cx="903434" cy="903434"/>
            <a:chOff x="2594325" y="1627175"/>
            <a:chExt cx="440850" cy="440850"/>
          </a:xfrm>
        </p:grpSpPr>
        <p:sp>
          <p:nvSpPr>
            <p:cNvPr id="569" name="Google Shape;569;p4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4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4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2" name="Google Shape;572;p48"/>
          <p:cNvGrpSpPr/>
          <p:nvPr/>
        </p:nvGrpSpPr>
        <p:grpSpPr>
          <a:xfrm>
            <a:off x="5215467" y="2022431"/>
            <a:ext cx="3486371" cy="2409369"/>
            <a:chOff x="5215467" y="2022431"/>
            <a:chExt cx="3486371" cy="2409369"/>
          </a:xfrm>
        </p:grpSpPr>
        <p:sp>
          <p:nvSpPr>
            <p:cNvPr id="573" name="Google Shape;573;p48"/>
            <p:cNvSpPr txBox="1"/>
            <p:nvPr/>
          </p:nvSpPr>
          <p:spPr>
            <a:xfrm>
              <a:off x="5215467" y="2022431"/>
              <a:ext cx="3407349" cy="2004000"/>
            </a:xfrm>
            <a:prstGeom prst="rect">
              <a:avLst/>
            </a:prstGeom>
            <a:noFill/>
            <a:ln>
              <a:noFill/>
            </a:ln>
          </p:spPr>
          <p:txBody>
            <a:bodyPr spcFirstLastPara="1" wrap="square" lIns="91425" tIns="91425" rIns="91425" bIns="91425" anchor="t" anchorCtr="0">
              <a:noAutofit/>
            </a:bodyPr>
            <a:lstStyle/>
            <a:p>
              <a:pPr marL="271463" marR="0" lvl="1" indent="0" algn="just" rtl="0">
                <a:lnSpc>
                  <a:spcPct val="114000"/>
                </a:lnSpc>
                <a:spcBef>
                  <a:spcPts val="600"/>
                </a:spcBef>
                <a:spcAft>
                  <a:spcPts val="0"/>
                </a:spcAft>
                <a:buNone/>
              </a:pPr>
              <a:r>
                <a:rPr lang="en-MY" sz="1400" b="0" i="0" u="none" strike="noStrike" cap="none">
                  <a:solidFill>
                    <a:schemeClr val="dk1"/>
                  </a:solidFill>
                  <a:latin typeface="Open Sans"/>
                  <a:ea typeface="Open Sans"/>
                  <a:cs typeface="Open Sans"/>
                  <a:sym typeface="Open Sans"/>
                </a:rPr>
                <a:t>public interface OperateRobot {</a:t>
              </a:r>
              <a:endParaRPr/>
            </a:p>
            <a:p>
              <a:pPr marL="450850" marR="0" lvl="2" indent="0" algn="just" rtl="0">
                <a:lnSpc>
                  <a:spcPct val="114000"/>
                </a:lnSpc>
                <a:spcBef>
                  <a:spcPts val="600"/>
                </a:spcBef>
                <a:spcAft>
                  <a:spcPts val="0"/>
                </a:spcAft>
                <a:buNone/>
              </a:pPr>
              <a:r>
                <a:rPr lang="en-MY" sz="1400" b="0" i="0" u="none" strike="noStrike" cap="none">
                  <a:solidFill>
                    <a:schemeClr val="dk1"/>
                  </a:solidFill>
                  <a:latin typeface="Open Sans"/>
                  <a:ea typeface="Open Sans"/>
                  <a:cs typeface="Open Sans"/>
                  <a:sym typeface="Open Sans"/>
                </a:rPr>
                <a:t>//constant declarations</a:t>
              </a:r>
              <a:endParaRPr/>
            </a:p>
            <a:p>
              <a:pPr marL="450850" marR="0" lvl="2" indent="0" algn="just" rtl="0">
                <a:lnSpc>
                  <a:spcPct val="114000"/>
                </a:lnSpc>
                <a:spcBef>
                  <a:spcPts val="600"/>
                </a:spcBef>
                <a:spcAft>
                  <a:spcPts val="0"/>
                </a:spcAft>
                <a:buNone/>
              </a:pPr>
              <a:r>
                <a:rPr lang="en-MY" sz="1400" b="0" i="0" u="none" strike="noStrike" cap="none">
                  <a:solidFill>
                    <a:schemeClr val="dk1"/>
                  </a:solidFill>
                  <a:latin typeface="Open Sans"/>
                  <a:ea typeface="Open Sans"/>
                  <a:cs typeface="Open Sans"/>
                  <a:sym typeface="Open Sans"/>
                </a:rPr>
                <a:t>//method signatures</a:t>
              </a:r>
              <a:endParaRPr/>
            </a:p>
            <a:p>
              <a:pPr marL="450850" marR="0" lvl="2" indent="0" algn="just" rtl="0">
                <a:lnSpc>
                  <a:spcPct val="114000"/>
                </a:lnSpc>
                <a:spcBef>
                  <a:spcPts val="600"/>
                </a:spcBef>
                <a:spcAft>
                  <a:spcPts val="0"/>
                </a:spcAft>
                <a:buNone/>
              </a:pPr>
              <a:r>
                <a:rPr lang="en-MY" sz="1400" b="0" i="0" u="none" strike="noStrike" cap="none">
                  <a:solidFill>
                    <a:schemeClr val="dk1"/>
                  </a:solidFill>
                  <a:latin typeface="Open Sans"/>
                  <a:ea typeface="Open Sans"/>
                  <a:cs typeface="Open Sans"/>
                  <a:sym typeface="Open Sans"/>
                </a:rPr>
                <a:t>int turn (Direction direction, int angle);</a:t>
              </a:r>
              <a:endParaRPr/>
            </a:p>
            <a:p>
              <a:pPr marL="450850" marR="0" lvl="2" indent="0" algn="just" rtl="0">
                <a:lnSpc>
                  <a:spcPct val="114000"/>
                </a:lnSpc>
                <a:spcBef>
                  <a:spcPts val="600"/>
                </a:spcBef>
                <a:spcAft>
                  <a:spcPts val="0"/>
                </a:spcAft>
                <a:buNone/>
              </a:pPr>
              <a:r>
                <a:rPr lang="en-MY" sz="1400" b="0" i="0" u="none" strike="noStrike" cap="none">
                  <a:solidFill>
                    <a:schemeClr val="dk1"/>
                  </a:solidFill>
                  <a:latin typeface="Open Sans"/>
                  <a:ea typeface="Open Sans"/>
                  <a:cs typeface="Open Sans"/>
                  <a:sym typeface="Open Sans"/>
                </a:rPr>
                <a:t>//method signatures</a:t>
              </a:r>
              <a:endParaRPr/>
            </a:p>
            <a:p>
              <a:pPr marL="271463" marR="0" lvl="1" indent="0" algn="just" rtl="0">
                <a:lnSpc>
                  <a:spcPct val="114000"/>
                </a:lnSpc>
                <a:spcBef>
                  <a:spcPts val="600"/>
                </a:spcBef>
                <a:spcAft>
                  <a:spcPts val="0"/>
                </a:spcAft>
                <a:buNone/>
              </a:pPr>
              <a:r>
                <a:rPr lang="en-MY" sz="1400" b="0" i="0" u="none" strike="noStrike" cap="none">
                  <a:solidFill>
                    <a:schemeClr val="dk1"/>
                  </a:solidFill>
                  <a:latin typeface="Open Sans"/>
                  <a:ea typeface="Open Sans"/>
                  <a:cs typeface="Open Sans"/>
                  <a:sym typeface="Open Sans"/>
                </a:rPr>
                <a:t>}</a:t>
              </a:r>
              <a:endParaRPr sz="1400" b="0" i="0" u="none" strike="noStrike" cap="none">
                <a:solidFill>
                  <a:schemeClr val="dk1"/>
                </a:solidFill>
                <a:latin typeface="Open Sans"/>
                <a:ea typeface="Open Sans"/>
                <a:cs typeface="Open Sans"/>
                <a:sym typeface="Open Sans"/>
              </a:endParaRPr>
            </a:p>
          </p:txBody>
        </p:sp>
        <p:sp>
          <p:nvSpPr>
            <p:cNvPr id="574" name="Google Shape;574;p48"/>
            <p:cNvSpPr/>
            <p:nvPr/>
          </p:nvSpPr>
          <p:spPr>
            <a:xfrm>
              <a:off x="5294489" y="2022432"/>
              <a:ext cx="3407349" cy="2409368"/>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9"/>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Programming to an interface</a:t>
            </a:r>
            <a:endParaRPr/>
          </a:p>
        </p:txBody>
      </p:sp>
      <p:sp>
        <p:nvSpPr>
          <p:cNvPr id="580" name="Google Shape;580;p49"/>
          <p:cNvSpPr txBox="1">
            <a:spLocks noGrp="1"/>
          </p:cNvSpPr>
          <p:nvPr>
            <p:ph type="body" idx="1"/>
          </p:nvPr>
        </p:nvSpPr>
        <p:spPr>
          <a:xfrm>
            <a:off x="859854" y="1911601"/>
            <a:ext cx="3621836"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To use an interface implements keyword is used. </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Using OperateRobot interface, different robot manufacturers may use this interface.  </a:t>
            </a:r>
            <a:endParaRPr/>
          </a:p>
          <a:p>
            <a:pPr marL="457200" lvl="0" indent="-355600" algn="l" rtl="0">
              <a:lnSpc>
                <a:spcPct val="115000"/>
              </a:lnSpc>
              <a:spcBef>
                <a:spcPts val="600"/>
              </a:spcBef>
              <a:spcAft>
                <a:spcPts val="0"/>
              </a:spcAft>
              <a:buSzPts val="1600"/>
              <a:buChar char="▪"/>
            </a:pPr>
            <a:r>
              <a:rPr lang="en-MY" sz="1600">
                <a:solidFill>
                  <a:srgbClr val="000000"/>
                </a:solidFill>
                <a:latin typeface="Open Sans"/>
                <a:ea typeface="Open Sans"/>
                <a:cs typeface="Open Sans"/>
                <a:sym typeface="Open Sans"/>
              </a:rPr>
              <a:t>Each of the them shall have their own implementation.</a:t>
            </a:r>
            <a:endParaRPr/>
          </a:p>
          <a:p>
            <a:pPr marL="457200" lvl="0" indent="-254000" algn="l" rtl="0">
              <a:lnSpc>
                <a:spcPct val="115000"/>
              </a:lnSpc>
              <a:spcBef>
                <a:spcPts val="600"/>
              </a:spcBef>
              <a:spcAft>
                <a:spcPts val="0"/>
              </a:spcAft>
              <a:buSzPts val="1600"/>
              <a:buNone/>
            </a:pPr>
            <a:endParaRPr sz="1600">
              <a:solidFill>
                <a:srgbClr val="000000"/>
              </a:solidFill>
              <a:latin typeface="Open Sans"/>
              <a:ea typeface="Open Sans"/>
              <a:cs typeface="Open Sans"/>
              <a:sym typeface="Open Sans"/>
            </a:endParaRPr>
          </a:p>
        </p:txBody>
      </p:sp>
      <p:sp>
        <p:nvSpPr>
          <p:cNvPr id="581" name="Google Shape;581;p49"/>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38</a:t>
            </a:fld>
            <a:endParaRPr sz="1400" b="0" i="0" u="none" strike="noStrike" cap="none">
              <a:solidFill>
                <a:srgbClr val="000000"/>
              </a:solidFill>
              <a:latin typeface="Arial"/>
              <a:ea typeface="Arial"/>
              <a:cs typeface="Arial"/>
              <a:sym typeface="Arial"/>
            </a:endParaRPr>
          </a:p>
        </p:txBody>
      </p:sp>
      <p:grpSp>
        <p:nvGrpSpPr>
          <p:cNvPr id="582" name="Google Shape;582;p49"/>
          <p:cNvGrpSpPr/>
          <p:nvPr/>
        </p:nvGrpSpPr>
        <p:grpSpPr>
          <a:xfrm>
            <a:off x="7516121" y="711701"/>
            <a:ext cx="903434" cy="903434"/>
            <a:chOff x="2594325" y="1627175"/>
            <a:chExt cx="440850" cy="440850"/>
          </a:xfrm>
        </p:grpSpPr>
        <p:sp>
          <p:nvSpPr>
            <p:cNvPr id="583" name="Google Shape;583;p49"/>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49"/>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49"/>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86" name="Google Shape;586;p49"/>
          <p:cNvGrpSpPr/>
          <p:nvPr/>
        </p:nvGrpSpPr>
        <p:grpSpPr>
          <a:xfrm>
            <a:off x="4481689" y="2022431"/>
            <a:ext cx="4220149" cy="2511923"/>
            <a:chOff x="4481689" y="2022431"/>
            <a:chExt cx="4220149" cy="2511923"/>
          </a:xfrm>
        </p:grpSpPr>
        <p:sp>
          <p:nvSpPr>
            <p:cNvPr id="587" name="Google Shape;587;p49"/>
            <p:cNvSpPr txBox="1"/>
            <p:nvPr/>
          </p:nvSpPr>
          <p:spPr>
            <a:xfrm>
              <a:off x="4572001" y="2022431"/>
              <a:ext cx="4050816" cy="2004000"/>
            </a:xfrm>
            <a:prstGeom prst="rect">
              <a:avLst/>
            </a:prstGeom>
            <a:noFill/>
            <a:ln>
              <a:noFill/>
            </a:ln>
          </p:spPr>
          <p:txBody>
            <a:bodyPr spcFirstLastPara="1" wrap="square" lIns="91425" tIns="91425" rIns="91425" bIns="91425" anchor="t" anchorCtr="0">
              <a:noAutofit/>
            </a:bodyPr>
            <a:lstStyle/>
            <a:p>
              <a:pPr marL="0" marR="0" lvl="0"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public class OperateRVacuumCleaner implements OperateRobot {</a:t>
              </a:r>
              <a:endParaRPr/>
            </a:p>
            <a:p>
              <a:pPr marL="271463" marR="0" lvl="0"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//OperateRobot method signatures with implementation</a:t>
              </a:r>
              <a:endParaRPr/>
            </a:p>
            <a:p>
              <a:pPr marL="271463" marR="0" lvl="2"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int turn (Direction direction, int angle){</a:t>
              </a:r>
              <a:endParaRPr/>
            </a:p>
            <a:p>
              <a:pPr marL="271463" marR="0" lvl="2"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//turn left LED ON</a:t>
              </a:r>
              <a:endParaRPr/>
            </a:p>
            <a:p>
              <a:pPr marL="271463" marR="0" lvl="2"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//turn left LED OFF</a:t>
              </a:r>
              <a:endParaRPr/>
            </a:p>
            <a:p>
              <a:pPr marL="271463" marR="0" lvl="2"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a:t>
              </a:r>
              <a:endParaRPr/>
            </a:p>
            <a:p>
              <a:pPr marL="0" marR="0" lvl="2" indent="0" algn="just" rtl="0">
                <a:lnSpc>
                  <a:spcPct val="114000"/>
                </a:lnSpc>
                <a:spcBef>
                  <a:spcPts val="0"/>
                </a:spcBef>
                <a:spcAft>
                  <a:spcPts val="0"/>
                </a:spcAft>
                <a:buNone/>
              </a:pPr>
              <a:r>
                <a:rPr lang="en-MY" sz="1400" b="0" i="0" u="none" strike="noStrike" cap="none">
                  <a:solidFill>
                    <a:schemeClr val="dk1"/>
                  </a:solidFill>
                  <a:latin typeface="Open Sans"/>
                  <a:ea typeface="Open Sans"/>
                  <a:cs typeface="Open Sans"/>
                  <a:sym typeface="Open Sans"/>
                </a:rPr>
                <a:t>}</a:t>
              </a:r>
              <a:endParaRPr/>
            </a:p>
          </p:txBody>
        </p:sp>
        <p:sp>
          <p:nvSpPr>
            <p:cNvPr id="588" name="Google Shape;588;p49"/>
            <p:cNvSpPr/>
            <p:nvPr/>
          </p:nvSpPr>
          <p:spPr>
            <a:xfrm>
              <a:off x="4481689" y="2022431"/>
              <a:ext cx="4220149" cy="2511923"/>
            </a:xfrm>
            <a:prstGeom prst="rect">
              <a:avLst/>
            </a:prstGeom>
            <a:noFill/>
            <a:ln w="9525" cap="flat" cmpd="sng">
              <a:solidFill>
                <a:srgbClr val="009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0"/>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3000"/>
              <a:buFont typeface="Open Sans"/>
              <a:buNone/>
            </a:pPr>
            <a:r>
              <a:rPr lang="en-MY" sz="2800"/>
              <a:t>Design principles</a:t>
            </a:r>
            <a:endParaRPr/>
          </a:p>
        </p:txBody>
      </p:sp>
      <p:sp>
        <p:nvSpPr>
          <p:cNvPr id="594" name="Google Shape;594;p50"/>
          <p:cNvSpPr txBox="1">
            <a:spLocks noGrp="1"/>
          </p:cNvSpPr>
          <p:nvPr>
            <p:ph type="body" idx="1"/>
          </p:nvPr>
        </p:nvSpPr>
        <p:spPr>
          <a:xfrm>
            <a:off x="859852" y="2024490"/>
            <a:ext cx="7279437"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1600"/>
              <a:buChar char="▪"/>
            </a:pPr>
            <a:r>
              <a:rPr lang="en-MY" sz="1600" b="0" i="0" u="none" strike="noStrike" cap="none">
                <a:solidFill>
                  <a:srgbClr val="000000"/>
                </a:solidFill>
              </a:rPr>
              <a:t>Favour composition over inheritance: Composition is preferred over inheritance because it offers a more flexible solution. </a:t>
            </a:r>
            <a:endParaRPr/>
          </a:p>
          <a:p>
            <a:pPr marL="457200" lvl="0" indent="-355600" algn="l" rtl="0">
              <a:lnSpc>
                <a:spcPct val="115000"/>
              </a:lnSpc>
              <a:spcBef>
                <a:spcPts val="600"/>
              </a:spcBef>
              <a:spcAft>
                <a:spcPts val="0"/>
              </a:spcAft>
              <a:buSzPts val="1600"/>
              <a:buChar char="▪"/>
            </a:pPr>
            <a:r>
              <a:rPr lang="en-MY" sz="1600" b="0" i="0" u="none" strike="noStrike" cap="none">
                <a:solidFill>
                  <a:srgbClr val="000000"/>
                </a:solidFill>
              </a:rPr>
              <a:t>Encapsulate what varies: Everything that varies is separated into its own class. This method also reduces errors and simplifies the maintenance process.</a:t>
            </a:r>
            <a:endParaRPr/>
          </a:p>
          <a:p>
            <a:pPr marL="457200" lvl="0" indent="-254000" algn="l" rtl="0">
              <a:lnSpc>
                <a:spcPct val="115000"/>
              </a:lnSpc>
              <a:spcBef>
                <a:spcPts val="600"/>
              </a:spcBef>
              <a:spcAft>
                <a:spcPts val="0"/>
              </a:spcAft>
              <a:buSzPts val="1600"/>
              <a:buNone/>
            </a:pPr>
            <a:endParaRPr sz="1600" b="0" i="0" u="none" strike="noStrike" cap="none">
              <a:solidFill>
                <a:srgbClr val="000000"/>
              </a:solidFill>
            </a:endParaRPr>
          </a:p>
        </p:txBody>
      </p:sp>
      <p:sp>
        <p:nvSpPr>
          <p:cNvPr id="595" name="Google Shape;595;p50"/>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39</a:t>
            </a:fld>
            <a:endParaRPr sz="1400" b="0" i="0" u="none" strike="noStrike" cap="none">
              <a:solidFill>
                <a:srgbClr val="000000"/>
              </a:solidFill>
              <a:latin typeface="Arial"/>
              <a:ea typeface="Arial"/>
              <a:cs typeface="Arial"/>
              <a:sym typeface="Arial"/>
            </a:endParaRPr>
          </a:p>
        </p:txBody>
      </p:sp>
      <p:grpSp>
        <p:nvGrpSpPr>
          <p:cNvPr id="596" name="Google Shape;596;p50"/>
          <p:cNvGrpSpPr/>
          <p:nvPr/>
        </p:nvGrpSpPr>
        <p:grpSpPr>
          <a:xfrm>
            <a:off x="7516121" y="711701"/>
            <a:ext cx="903434" cy="903434"/>
            <a:chOff x="2594325" y="1627175"/>
            <a:chExt cx="440850" cy="440850"/>
          </a:xfrm>
        </p:grpSpPr>
        <p:sp>
          <p:nvSpPr>
            <p:cNvPr id="597" name="Google Shape;597;p50"/>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50"/>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50"/>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51"/>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Advantages of object-oriented programming </a:t>
            </a:r>
            <a:endParaRPr/>
          </a:p>
        </p:txBody>
      </p:sp>
      <p:sp>
        <p:nvSpPr>
          <p:cNvPr id="605" name="Google Shape;605;p51"/>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In object-oriented programming, the internal details of an object are hidden. The user only needs to know the attributes and methods of an object to use them. The knowledge of how a method works is not required.</a:t>
            </a:r>
            <a:endParaRPr/>
          </a:p>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Due to polymorphism, the code is more generic. This helps us to reuse codes in the main class. </a:t>
            </a:r>
            <a:endParaRPr/>
          </a:p>
        </p:txBody>
      </p:sp>
      <p:sp>
        <p:nvSpPr>
          <p:cNvPr id="606" name="Google Shape;606;p51"/>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40</a:t>
            </a:fld>
            <a:endParaRPr sz="1400" b="0" i="0" u="none" strike="noStrike" cap="none">
              <a:solidFill>
                <a:srgbClr val="000000"/>
              </a:solidFill>
              <a:latin typeface="Arial"/>
              <a:ea typeface="Arial"/>
              <a:cs typeface="Arial"/>
              <a:sym typeface="Arial"/>
            </a:endParaRPr>
          </a:p>
        </p:txBody>
      </p:sp>
      <p:grpSp>
        <p:nvGrpSpPr>
          <p:cNvPr id="607" name="Google Shape;607;p51"/>
          <p:cNvGrpSpPr/>
          <p:nvPr/>
        </p:nvGrpSpPr>
        <p:grpSpPr>
          <a:xfrm>
            <a:off x="7516121" y="711701"/>
            <a:ext cx="903434" cy="903434"/>
            <a:chOff x="2594325" y="1627175"/>
            <a:chExt cx="440850" cy="440850"/>
          </a:xfrm>
        </p:grpSpPr>
        <p:sp>
          <p:nvSpPr>
            <p:cNvPr id="608" name="Google Shape;608;p51"/>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51"/>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51"/>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52"/>
          <p:cNvSpPr txBox="1">
            <a:spLocks noGrp="1"/>
          </p:cNvSpPr>
          <p:nvPr>
            <p:ph type="title" idx="4294967295"/>
          </p:nvPr>
        </p:nvSpPr>
        <p:spPr>
          <a:xfrm>
            <a:off x="859852" y="1117069"/>
            <a:ext cx="5287559" cy="7134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sz="2800"/>
              <a:t>Advantages of object-oriented programming </a:t>
            </a:r>
            <a:endParaRPr/>
          </a:p>
        </p:txBody>
      </p:sp>
      <p:sp>
        <p:nvSpPr>
          <p:cNvPr id="616" name="Google Shape;616;p52"/>
          <p:cNvSpPr txBox="1">
            <a:spLocks noGrp="1"/>
          </p:cNvSpPr>
          <p:nvPr>
            <p:ph type="body" idx="1"/>
          </p:nvPr>
        </p:nvSpPr>
        <p:spPr>
          <a:xfrm>
            <a:off x="859852" y="2024490"/>
            <a:ext cx="7477272" cy="20040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MY" sz="1600">
                <a:solidFill>
                  <a:srgbClr val="000000"/>
                </a:solidFill>
                <a:latin typeface="Open Sans"/>
                <a:ea typeface="Open Sans"/>
                <a:cs typeface="Open Sans"/>
                <a:sym typeface="Open Sans"/>
              </a:rPr>
              <a:t>Objects are the building blocks of this programming language. Several objects can be created from a class. Moreover, slightly different objects can also be created using an existing class.</a:t>
            </a:r>
            <a:endParaRPr/>
          </a:p>
          <a:p>
            <a:pPr marL="431800" marR="0" lvl="0" indent="-285750" algn="just" rtl="0">
              <a:lnSpc>
                <a:spcPct val="114000"/>
              </a:lnSpc>
              <a:spcBef>
                <a:spcPts val="800"/>
              </a:spcBef>
              <a:spcAft>
                <a:spcPts val="0"/>
              </a:spcAft>
              <a:buClr>
                <a:schemeClr val="dk1"/>
              </a:buClr>
              <a:buSzPts val="1400"/>
              <a:buFont typeface="Arial"/>
              <a:buChar char="•"/>
            </a:pPr>
            <a:r>
              <a:rPr lang="en-MY" sz="1600" b="0" i="0" u="none" strike="noStrike" cap="none">
                <a:solidFill>
                  <a:schemeClr val="dk1"/>
                </a:solidFill>
                <a:latin typeface="Open Sans"/>
                <a:ea typeface="Open Sans"/>
                <a:cs typeface="Open Sans"/>
                <a:sym typeface="Open Sans"/>
              </a:rPr>
              <a:t>Proper planning is required in the analysis stage. This makes sure that the code is free from weaknesses.</a:t>
            </a:r>
            <a:endParaRPr sz="1100"/>
          </a:p>
          <a:p>
            <a:pPr marL="431800" marR="0" lvl="0" indent="-285750" algn="just" rtl="0">
              <a:lnSpc>
                <a:spcPct val="114000"/>
              </a:lnSpc>
              <a:spcBef>
                <a:spcPts val="800"/>
              </a:spcBef>
              <a:spcAft>
                <a:spcPts val="0"/>
              </a:spcAft>
              <a:buClr>
                <a:schemeClr val="dk1"/>
              </a:buClr>
              <a:buSzPts val="1400"/>
              <a:buFont typeface="Arial"/>
              <a:buChar char="•"/>
            </a:pPr>
            <a:r>
              <a:rPr lang="en-MY" sz="1600" b="0" i="0" u="none" strike="noStrike" cap="none">
                <a:solidFill>
                  <a:schemeClr val="dk1"/>
                </a:solidFill>
                <a:latin typeface="Open Sans"/>
                <a:ea typeface="Open Sans"/>
                <a:cs typeface="Open Sans"/>
                <a:sym typeface="Open Sans"/>
              </a:rPr>
              <a:t>Object-oriented programming is modular in nature and hence, easier to maintain. </a:t>
            </a:r>
            <a:endParaRPr sz="1100"/>
          </a:p>
          <a:p>
            <a:pPr marL="457200" lvl="0" indent="-228600" algn="l" rtl="0">
              <a:lnSpc>
                <a:spcPct val="115000"/>
              </a:lnSpc>
              <a:spcBef>
                <a:spcPts val="600"/>
              </a:spcBef>
              <a:spcAft>
                <a:spcPts val="0"/>
              </a:spcAft>
              <a:buSzPts val="2000"/>
              <a:buNone/>
            </a:pPr>
            <a:endParaRPr sz="1600">
              <a:solidFill>
                <a:srgbClr val="000000"/>
              </a:solidFill>
              <a:latin typeface="Open Sans"/>
              <a:ea typeface="Open Sans"/>
              <a:cs typeface="Open Sans"/>
              <a:sym typeface="Open Sans"/>
            </a:endParaRPr>
          </a:p>
        </p:txBody>
      </p:sp>
      <p:sp>
        <p:nvSpPr>
          <p:cNvPr id="617" name="Google Shape;617;p52"/>
          <p:cNvSpPr txBox="1">
            <a:spLocks noGrp="1"/>
          </p:cNvSpPr>
          <p:nvPr>
            <p:ph type="sldNum" idx="12"/>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41</a:t>
            </a:fld>
            <a:endParaRPr sz="1400" b="0" i="0" u="none" strike="noStrike" cap="none">
              <a:solidFill>
                <a:srgbClr val="000000"/>
              </a:solidFill>
              <a:latin typeface="Arial"/>
              <a:ea typeface="Arial"/>
              <a:cs typeface="Arial"/>
              <a:sym typeface="Arial"/>
            </a:endParaRPr>
          </a:p>
        </p:txBody>
      </p:sp>
      <p:grpSp>
        <p:nvGrpSpPr>
          <p:cNvPr id="618" name="Google Shape;618;p52"/>
          <p:cNvGrpSpPr/>
          <p:nvPr/>
        </p:nvGrpSpPr>
        <p:grpSpPr>
          <a:xfrm>
            <a:off x="7516121" y="711701"/>
            <a:ext cx="903434" cy="903434"/>
            <a:chOff x="2594325" y="1627175"/>
            <a:chExt cx="440850" cy="440850"/>
          </a:xfrm>
        </p:grpSpPr>
        <p:sp>
          <p:nvSpPr>
            <p:cNvPr id="619" name="Google Shape;619;p52"/>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52"/>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52"/>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29"/>
          <p:cNvSpPr txBox="1">
            <a:spLocks noGrp="1"/>
          </p:cNvSpPr>
          <p:nvPr>
            <p:ph type="title" idx="4294967295"/>
          </p:nvPr>
        </p:nvSpPr>
        <p:spPr>
          <a:xfrm>
            <a:off x="869150" y="489075"/>
            <a:ext cx="5092200" cy="848998"/>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a:t>Let’s review some concepts</a:t>
            </a:r>
            <a:endParaRPr/>
          </a:p>
        </p:txBody>
      </p:sp>
      <p:sp>
        <p:nvSpPr>
          <p:cNvPr id="627" name="Google Shape;627;p29"/>
          <p:cNvSpPr txBox="1">
            <a:spLocks noGrp="1"/>
          </p:cNvSpPr>
          <p:nvPr>
            <p:ph type="body" idx="1"/>
          </p:nvPr>
        </p:nvSpPr>
        <p:spPr>
          <a:xfrm>
            <a:off x="869150" y="1573400"/>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Class vs. Object</a:t>
            </a:r>
            <a:endParaRPr/>
          </a:p>
          <a:p>
            <a:pPr marL="0" lvl="0" indent="0" algn="l" rtl="0">
              <a:lnSpc>
                <a:spcPct val="100000"/>
              </a:lnSpc>
              <a:spcBef>
                <a:spcPts val="600"/>
              </a:spcBef>
              <a:spcAft>
                <a:spcPts val="0"/>
              </a:spcAft>
              <a:buSzPts val="1400"/>
              <a:buNone/>
            </a:pPr>
            <a:r>
              <a:rPr lang="en-MY" sz="1100"/>
              <a:t>Any physical or logical entity that has a state and behaviour is called an object. </a:t>
            </a:r>
            <a:endParaRPr/>
          </a:p>
          <a:p>
            <a:pPr marL="0" lvl="0" indent="0" algn="l" rtl="0">
              <a:lnSpc>
                <a:spcPct val="100000"/>
              </a:lnSpc>
              <a:spcBef>
                <a:spcPts val="600"/>
              </a:spcBef>
              <a:spcAft>
                <a:spcPts val="0"/>
              </a:spcAft>
              <a:buSzPts val="1400"/>
              <a:buNone/>
            </a:pPr>
            <a:r>
              <a:rPr lang="en-MY" sz="1100"/>
              <a:t>Class is the blueprint of an object.</a:t>
            </a:r>
            <a:endParaRPr/>
          </a:p>
          <a:p>
            <a:pPr marL="0" lvl="0" indent="0" algn="l" rtl="0">
              <a:lnSpc>
                <a:spcPct val="100000"/>
              </a:lnSpc>
              <a:spcBef>
                <a:spcPts val="600"/>
              </a:spcBef>
              <a:spcAft>
                <a:spcPts val="0"/>
              </a:spcAft>
              <a:buSzPts val="1400"/>
              <a:buNone/>
            </a:pPr>
            <a:r>
              <a:rPr lang="en-MY" sz="1100"/>
              <a:t>Object is an instance of class.</a:t>
            </a:r>
            <a:endParaRPr sz="1100"/>
          </a:p>
        </p:txBody>
      </p:sp>
      <p:sp>
        <p:nvSpPr>
          <p:cNvPr id="628" name="Google Shape;628;p29"/>
          <p:cNvSpPr txBox="1">
            <a:spLocks noGrp="1"/>
          </p:cNvSpPr>
          <p:nvPr>
            <p:ph type="body" idx="2"/>
          </p:nvPr>
        </p:nvSpPr>
        <p:spPr>
          <a:xfrm>
            <a:off x="3356738" y="1573400"/>
            <a:ext cx="21846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Features of OOP</a:t>
            </a:r>
            <a:endParaRPr/>
          </a:p>
          <a:p>
            <a:pPr marL="0" lvl="0" indent="0" algn="l" rtl="0">
              <a:lnSpc>
                <a:spcPct val="100000"/>
              </a:lnSpc>
              <a:spcBef>
                <a:spcPts val="0"/>
              </a:spcBef>
              <a:spcAft>
                <a:spcPts val="0"/>
              </a:spcAft>
              <a:buSzPts val="1400"/>
              <a:buNone/>
            </a:pPr>
            <a:r>
              <a:rPr lang="en-MY" sz="1100"/>
              <a:t>Abstraction</a:t>
            </a:r>
            <a:endParaRPr/>
          </a:p>
          <a:p>
            <a:pPr marL="0" lvl="0" indent="0" algn="l" rtl="0">
              <a:lnSpc>
                <a:spcPct val="100000"/>
              </a:lnSpc>
              <a:spcBef>
                <a:spcPts val="0"/>
              </a:spcBef>
              <a:spcAft>
                <a:spcPts val="0"/>
              </a:spcAft>
              <a:buSzPts val="1400"/>
              <a:buNone/>
            </a:pPr>
            <a:r>
              <a:rPr lang="en-MY" sz="1100"/>
              <a:t>Inheritance</a:t>
            </a:r>
            <a:endParaRPr/>
          </a:p>
          <a:p>
            <a:pPr marL="0" lvl="0" indent="0" algn="l" rtl="0">
              <a:lnSpc>
                <a:spcPct val="100000"/>
              </a:lnSpc>
              <a:spcBef>
                <a:spcPts val="0"/>
              </a:spcBef>
              <a:spcAft>
                <a:spcPts val="0"/>
              </a:spcAft>
              <a:buSzPts val="1400"/>
              <a:buNone/>
            </a:pPr>
            <a:r>
              <a:rPr lang="en-MY" sz="1100"/>
              <a:t>Polymorphism</a:t>
            </a:r>
            <a:endParaRPr/>
          </a:p>
          <a:p>
            <a:pPr marL="0" lvl="0" indent="0" algn="l" rtl="0">
              <a:lnSpc>
                <a:spcPct val="100000"/>
              </a:lnSpc>
              <a:spcBef>
                <a:spcPts val="0"/>
              </a:spcBef>
              <a:spcAft>
                <a:spcPts val="0"/>
              </a:spcAft>
              <a:buSzPts val="1400"/>
              <a:buNone/>
            </a:pPr>
            <a:r>
              <a:rPr lang="en-MY" sz="1100"/>
              <a:t>Encapsulation</a:t>
            </a:r>
            <a:endParaRPr/>
          </a:p>
        </p:txBody>
      </p:sp>
      <p:sp>
        <p:nvSpPr>
          <p:cNvPr id="629" name="Google Shape;629;p29"/>
          <p:cNvSpPr txBox="1">
            <a:spLocks noGrp="1"/>
          </p:cNvSpPr>
          <p:nvPr>
            <p:ph type="body" idx="3"/>
          </p:nvPr>
        </p:nvSpPr>
        <p:spPr>
          <a:xfrm>
            <a:off x="3356738" y="2694674"/>
            <a:ext cx="2366400" cy="132505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Constructor</a:t>
            </a:r>
            <a:endParaRPr/>
          </a:p>
          <a:p>
            <a:pPr marL="0" lvl="0" indent="0" algn="l" rtl="0">
              <a:lnSpc>
                <a:spcPct val="100000"/>
              </a:lnSpc>
              <a:spcBef>
                <a:spcPts val="600"/>
              </a:spcBef>
              <a:spcAft>
                <a:spcPts val="0"/>
              </a:spcAft>
              <a:buSzPts val="1400"/>
              <a:buNone/>
            </a:pPr>
            <a:r>
              <a:rPr lang="en-MY" sz="1100"/>
              <a:t>Subroutines used to create a new object. </a:t>
            </a:r>
            <a:endParaRPr/>
          </a:p>
          <a:p>
            <a:pPr marL="0" lvl="0" indent="0" algn="l" rtl="0">
              <a:lnSpc>
                <a:spcPct val="100000"/>
              </a:lnSpc>
              <a:spcBef>
                <a:spcPts val="600"/>
              </a:spcBef>
              <a:spcAft>
                <a:spcPts val="0"/>
              </a:spcAft>
              <a:buSzPts val="1400"/>
              <a:buNone/>
            </a:pPr>
            <a:endParaRPr sz="1100"/>
          </a:p>
        </p:txBody>
      </p:sp>
      <p:sp>
        <p:nvSpPr>
          <p:cNvPr id="630" name="Google Shape;630;p29"/>
          <p:cNvSpPr txBox="1">
            <a:spLocks noGrp="1"/>
          </p:cNvSpPr>
          <p:nvPr>
            <p:ph type="body" idx="1"/>
          </p:nvPr>
        </p:nvSpPr>
        <p:spPr>
          <a:xfrm>
            <a:off x="869150" y="3132800"/>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get () and set () methods</a:t>
            </a:r>
            <a:endParaRPr/>
          </a:p>
          <a:p>
            <a:pPr marL="0" lvl="0" indent="0" algn="l" rtl="0">
              <a:lnSpc>
                <a:spcPct val="100000"/>
              </a:lnSpc>
              <a:spcBef>
                <a:spcPts val="600"/>
              </a:spcBef>
              <a:spcAft>
                <a:spcPts val="0"/>
              </a:spcAft>
              <a:buSzPts val="1400"/>
              <a:buNone/>
            </a:pPr>
            <a:r>
              <a:rPr lang="en-MY" sz="1100"/>
              <a:t>Private variables of a class can be accessed by other classes using get and set methods. </a:t>
            </a:r>
            <a:endParaRPr/>
          </a:p>
          <a:p>
            <a:pPr marL="0" lvl="0" indent="0" algn="l" rtl="0">
              <a:lnSpc>
                <a:spcPct val="100000"/>
              </a:lnSpc>
              <a:spcBef>
                <a:spcPts val="600"/>
              </a:spcBef>
              <a:spcAft>
                <a:spcPts val="0"/>
              </a:spcAft>
              <a:buSzPts val="1400"/>
              <a:buNone/>
            </a:pPr>
            <a:r>
              <a:rPr lang="en-MY" sz="1100"/>
              <a:t>The get method returns the value of the variable and the set method sets the value. </a:t>
            </a:r>
            <a:endParaRPr/>
          </a:p>
        </p:txBody>
      </p:sp>
      <p:sp>
        <p:nvSpPr>
          <p:cNvPr id="631" name="Google Shape;631;p29"/>
          <p:cNvSpPr txBox="1">
            <a:spLocks noGrp="1"/>
          </p:cNvSpPr>
          <p:nvPr>
            <p:ph type="body" idx="2"/>
          </p:nvPr>
        </p:nvSpPr>
        <p:spPr>
          <a:xfrm>
            <a:off x="3356738" y="3357203"/>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Inheritance</a:t>
            </a:r>
            <a:endParaRPr/>
          </a:p>
          <a:p>
            <a:pPr marL="0" lvl="0" indent="0" algn="l" rtl="0">
              <a:lnSpc>
                <a:spcPct val="100000"/>
              </a:lnSpc>
              <a:spcBef>
                <a:spcPts val="600"/>
              </a:spcBef>
              <a:spcAft>
                <a:spcPts val="0"/>
              </a:spcAft>
              <a:buSzPts val="1400"/>
              <a:buNone/>
            </a:pPr>
            <a:r>
              <a:rPr lang="en-MY" sz="1100"/>
              <a:t>A programming concept in which a child-class inherits the properties of a parent-class. </a:t>
            </a:r>
            <a:endParaRPr/>
          </a:p>
          <a:p>
            <a:pPr marL="0" lvl="0" indent="0" algn="l" rtl="0">
              <a:lnSpc>
                <a:spcPct val="100000"/>
              </a:lnSpc>
              <a:spcBef>
                <a:spcPts val="600"/>
              </a:spcBef>
              <a:spcAft>
                <a:spcPts val="0"/>
              </a:spcAft>
              <a:buSzPts val="1400"/>
              <a:buNone/>
            </a:pPr>
            <a:r>
              <a:rPr lang="en-MY" sz="1100"/>
              <a:t>inherits &amp; super keyword</a:t>
            </a:r>
            <a:endParaRPr/>
          </a:p>
        </p:txBody>
      </p:sp>
      <p:sp>
        <p:nvSpPr>
          <p:cNvPr id="632" name="Google Shape;632;p29"/>
          <p:cNvSpPr txBox="1">
            <a:spLocks noGrp="1"/>
          </p:cNvSpPr>
          <p:nvPr>
            <p:ph type="body" idx="3"/>
          </p:nvPr>
        </p:nvSpPr>
        <p:spPr>
          <a:xfrm>
            <a:off x="5844326" y="3361400"/>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Overriding</a:t>
            </a:r>
            <a:endParaRPr/>
          </a:p>
          <a:p>
            <a:pPr marL="0" lvl="0" indent="0" algn="l" rtl="0">
              <a:lnSpc>
                <a:spcPct val="100000"/>
              </a:lnSpc>
              <a:spcBef>
                <a:spcPts val="600"/>
              </a:spcBef>
              <a:spcAft>
                <a:spcPts val="0"/>
              </a:spcAft>
              <a:buSzPts val="1400"/>
              <a:buNone/>
            </a:pPr>
            <a:r>
              <a:rPr lang="en-MY" sz="1100"/>
              <a:t>Defining a method with the same name and formal argument types as a method inherited from a superclass.</a:t>
            </a:r>
            <a:endParaRPr/>
          </a:p>
          <a:p>
            <a:pPr marL="0" lvl="0" indent="0" algn="l" rtl="0">
              <a:lnSpc>
                <a:spcPct val="100000"/>
              </a:lnSpc>
              <a:spcBef>
                <a:spcPts val="600"/>
              </a:spcBef>
              <a:spcAft>
                <a:spcPts val="0"/>
              </a:spcAft>
              <a:buSzPts val="1400"/>
              <a:buNone/>
            </a:pPr>
            <a:endParaRPr sz="1100"/>
          </a:p>
        </p:txBody>
      </p:sp>
      <p:grpSp>
        <p:nvGrpSpPr>
          <p:cNvPr id="633" name="Google Shape;633;p29"/>
          <p:cNvGrpSpPr/>
          <p:nvPr/>
        </p:nvGrpSpPr>
        <p:grpSpPr>
          <a:xfrm>
            <a:off x="7261098" y="711638"/>
            <a:ext cx="1158551" cy="732293"/>
            <a:chOff x="3241525" y="3039450"/>
            <a:chExt cx="494600" cy="312625"/>
          </a:xfrm>
        </p:grpSpPr>
        <p:sp>
          <p:nvSpPr>
            <p:cNvPr id="634" name="Google Shape;634;p29"/>
            <p:cNvSpPr/>
            <p:nvPr/>
          </p:nvSpPr>
          <p:spPr>
            <a:xfrm>
              <a:off x="3241525" y="3039450"/>
              <a:ext cx="494600" cy="312625"/>
            </a:xfrm>
            <a:custGeom>
              <a:avLst/>
              <a:gdLst/>
              <a:ahLst/>
              <a:cxnLst/>
              <a:rect l="l" t="t" r="r" b="b"/>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29"/>
            <p:cNvSpPr/>
            <p:nvPr/>
          </p:nvSpPr>
          <p:spPr>
            <a:xfrm>
              <a:off x="3384400" y="3091350"/>
              <a:ext cx="208850" cy="208825"/>
            </a:xfrm>
            <a:custGeom>
              <a:avLst/>
              <a:gdLst/>
              <a:ahLst/>
              <a:cxnLst/>
              <a:rect l="l" t="t" r="r" b="b"/>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36" name="Google Shape;636;p29"/>
          <p:cNvSpPr txBox="1">
            <a:spLocks noGrp="1"/>
          </p:cNvSpPr>
          <p:nvPr>
            <p:ph type="sldNum" idx="12"/>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42</a:t>
            </a:fld>
            <a:endParaRPr sz="1400" b="0" i="0" u="none" strike="noStrike" cap="none">
              <a:solidFill>
                <a:srgbClr val="000000"/>
              </a:solidFill>
              <a:latin typeface="Arial"/>
              <a:ea typeface="Arial"/>
              <a:cs typeface="Arial"/>
              <a:sym typeface="Arial"/>
            </a:endParaRPr>
          </a:p>
        </p:txBody>
      </p:sp>
      <p:sp>
        <p:nvSpPr>
          <p:cNvPr id="637" name="Google Shape;637;p29"/>
          <p:cNvSpPr txBox="1"/>
          <p:nvPr/>
        </p:nvSpPr>
        <p:spPr>
          <a:xfrm>
            <a:off x="5844351" y="1573388"/>
            <a:ext cx="2366400" cy="132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dk1"/>
              </a:buClr>
              <a:buSzPts val="1400"/>
              <a:buFont typeface="Open Sans"/>
              <a:buNone/>
            </a:pPr>
            <a:r>
              <a:rPr lang="en-MY" sz="1100" b="1" i="0" u="none" strike="noStrike" cap="none">
                <a:solidFill>
                  <a:schemeClr val="dk1"/>
                </a:solidFill>
                <a:latin typeface="Open Sans"/>
                <a:ea typeface="Open Sans"/>
                <a:cs typeface="Open Sans"/>
                <a:sym typeface="Open Sans"/>
              </a:rPr>
              <a:t>Attributes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1"/>
              </a:buClr>
              <a:buSzPts val="1400"/>
              <a:buFont typeface="Open Sans"/>
              <a:buNone/>
            </a:pPr>
            <a:r>
              <a:rPr lang="en-MY" sz="1100" b="0" i="0" u="none" strike="noStrike" cap="none">
                <a:solidFill>
                  <a:schemeClr val="dk1"/>
                </a:solidFill>
                <a:latin typeface="Open Sans"/>
                <a:ea typeface="Open Sans"/>
                <a:cs typeface="Open Sans"/>
                <a:sym typeface="Open Sans"/>
              </a:rPr>
              <a:t>Information stored about objects that are derived from a 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1"/>
              </a:buClr>
              <a:buSzPts val="1400"/>
              <a:buFont typeface="Open Sans"/>
              <a:buNone/>
            </a:pPr>
            <a:endParaRPr sz="1100" b="0" i="0" u="none" strike="noStrike" cap="none">
              <a:solidFill>
                <a:schemeClr val="dk1"/>
              </a:solidFill>
              <a:latin typeface="Open Sans"/>
              <a:ea typeface="Open Sans"/>
              <a:cs typeface="Open Sans"/>
              <a:sym typeface="Open Sans"/>
            </a:endParaRPr>
          </a:p>
        </p:txBody>
      </p:sp>
      <p:sp>
        <p:nvSpPr>
          <p:cNvPr id="638" name="Google Shape;638;p29"/>
          <p:cNvSpPr txBox="1"/>
          <p:nvPr/>
        </p:nvSpPr>
        <p:spPr>
          <a:xfrm>
            <a:off x="5844351" y="2598668"/>
            <a:ext cx="2366400" cy="132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dk1"/>
              </a:buClr>
              <a:buSzPts val="1400"/>
              <a:buFont typeface="Open Sans"/>
              <a:buNone/>
            </a:pPr>
            <a:r>
              <a:rPr lang="en-MY" sz="1100" b="1" i="0" u="none" strike="noStrike" cap="none">
                <a:solidFill>
                  <a:schemeClr val="dk1"/>
                </a:solidFill>
                <a:latin typeface="Open Sans"/>
                <a:ea typeface="Open Sans"/>
                <a:cs typeface="Open Sans"/>
                <a:sym typeface="Open Sans"/>
              </a:rPr>
              <a:t>Behaviour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1"/>
              </a:buClr>
              <a:buSzPts val="1400"/>
              <a:buFont typeface="Open Sans"/>
              <a:buNone/>
            </a:pPr>
            <a:r>
              <a:rPr lang="en-MY" sz="1100" b="0" i="0" u="none" strike="noStrike" cap="none">
                <a:solidFill>
                  <a:schemeClr val="dk1"/>
                </a:solidFill>
                <a:latin typeface="Open Sans"/>
                <a:ea typeface="Open Sans"/>
                <a:cs typeface="Open Sans"/>
                <a:sym typeface="Open Sans"/>
              </a:rPr>
              <a:t>Procedures associated with 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1"/>
              </a:buClr>
              <a:buSzPts val="1400"/>
              <a:buFont typeface="Open Sans"/>
              <a:buNone/>
            </a:pPr>
            <a:endParaRPr sz="1100" b="0" i="0" u="none" strike="noStrike" cap="none">
              <a:solidFill>
                <a:schemeClr val="dk1"/>
              </a:solidFill>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53"/>
          <p:cNvSpPr txBox="1">
            <a:spLocks noGrp="1"/>
          </p:cNvSpPr>
          <p:nvPr>
            <p:ph type="title" idx="4294967295"/>
          </p:nvPr>
        </p:nvSpPr>
        <p:spPr>
          <a:xfrm>
            <a:off x="869150" y="489075"/>
            <a:ext cx="5092200" cy="848998"/>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MY"/>
              <a:t>Let’s review some concepts</a:t>
            </a:r>
            <a:endParaRPr/>
          </a:p>
        </p:txBody>
      </p:sp>
      <p:sp>
        <p:nvSpPr>
          <p:cNvPr id="644" name="Google Shape;644;p53"/>
          <p:cNvSpPr txBox="1">
            <a:spLocks noGrp="1"/>
          </p:cNvSpPr>
          <p:nvPr>
            <p:ph type="body" idx="1"/>
          </p:nvPr>
        </p:nvSpPr>
        <p:spPr>
          <a:xfrm>
            <a:off x="869150" y="1725800"/>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Association</a:t>
            </a:r>
            <a:endParaRPr/>
          </a:p>
          <a:p>
            <a:pPr marL="0" lvl="0" indent="0" algn="l" rtl="0">
              <a:lnSpc>
                <a:spcPct val="100000"/>
              </a:lnSpc>
              <a:spcBef>
                <a:spcPts val="600"/>
              </a:spcBef>
              <a:spcAft>
                <a:spcPts val="0"/>
              </a:spcAft>
              <a:buSzPts val="1400"/>
              <a:buNone/>
            </a:pPr>
            <a:r>
              <a:rPr lang="en-MY" sz="1100"/>
              <a:t>An association shows a relationship between two or more objects, whose instances have some connections, but no one is responsible for the creation of other.</a:t>
            </a:r>
            <a:endParaRPr/>
          </a:p>
        </p:txBody>
      </p:sp>
      <p:sp>
        <p:nvSpPr>
          <p:cNvPr id="645" name="Google Shape;645;p53"/>
          <p:cNvSpPr txBox="1">
            <a:spLocks noGrp="1"/>
          </p:cNvSpPr>
          <p:nvPr>
            <p:ph type="body" idx="2"/>
          </p:nvPr>
        </p:nvSpPr>
        <p:spPr>
          <a:xfrm>
            <a:off x="3356738" y="1725800"/>
            <a:ext cx="2184746"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Aggregation</a:t>
            </a:r>
            <a:endParaRPr/>
          </a:p>
          <a:p>
            <a:pPr marL="0" lvl="0" indent="0" algn="l" rtl="0">
              <a:lnSpc>
                <a:spcPct val="100000"/>
              </a:lnSpc>
              <a:spcBef>
                <a:spcPts val="0"/>
              </a:spcBef>
              <a:spcAft>
                <a:spcPts val="0"/>
              </a:spcAft>
              <a:buSzPts val="1400"/>
              <a:buNone/>
            </a:pPr>
            <a:r>
              <a:rPr lang="en-MY" sz="1100"/>
              <a:t>An aggregation is a specialised form of association that specifies a whole-part relationship between the aggregate and the component part, where the existence of the part is optional. </a:t>
            </a:r>
            <a:endParaRPr/>
          </a:p>
        </p:txBody>
      </p:sp>
      <p:sp>
        <p:nvSpPr>
          <p:cNvPr id="646" name="Google Shape;646;p53"/>
          <p:cNvSpPr txBox="1">
            <a:spLocks noGrp="1"/>
          </p:cNvSpPr>
          <p:nvPr>
            <p:ph type="body" idx="1"/>
          </p:nvPr>
        </p:nvSpPr>
        <p:spPr>
          <a:xfrm>
            <a:off x="869150" y="3362981"/>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Types of access modifiers</a:t>
            </a:r>
            <a:endParaRPr/>
          </a:p>
          <a:p>
            <a:pPr marL="0" lvl="0" indent="0" algn="l" rtl="0">
              <a:lnSpc>
                <a:spcPct val="100000"/>
              </a:lnSpc>
              <a:spcBef>
                <a:spcPts val="600"/>
              </a:spcBef>
              <a:spcAft>
                <a:spcPts val="0"/>
              </a:spcAft>
              <a:buSzPts val="1400"/>
              <a:buNone/>
            </a:pPr>
            <a:r>
              <a:rPr lang="en-MY" sz="1100"/>
              <a:t>Public</a:t>
            </a:r>
            <a:endParaRPr/>
          </a:p>
          <a:p>
            <a:pPr marL="0" lvl="0" indent="0" algn="l" rtl="0">
              <a:lnSpc>
                <a:spcPct val="100000"/>
              </a:lnSpc>
              <a:spcBef>
                <a:spcPts val="600"/>
              </a:spcBef>
              <a:spcAft>
                <a:spcPts val="0"/>
              </a:spcAft>
              <a:buSzPts val="1400"/>
              <a:buNone/>
            </a:pPr>
            <a:r>
              <a:rPr lang="en-MY" sz="1100"/>
              <a:t>Private</a:t>
            </a:r>
            <a:endParaRPr/>
          </a:p>
          <a:p>
            <a:pPr marL="0" lvl="0" indent="0" algn="l" rtl="0">
              <a:lnSpc>
                <a:spcPct val="100000"/>
              </a:lnSpc>
              <a:spcBef>
                <a:spcPts val="600"/>
              </a:spcBef>
              <a:spcAft>
                <a:spcPts val="0"/>
              </a:spcAft>
              <a:buSzPts val="1400"/>
              <a:buNone/>
            </a:pPr>
            <a:r>
              <a:rPr lang="en-MY" sz="1100"/>
              <a:t>Protected</a:t>
            </a:r>
            <a:endParaRPr/>
          </a:p>
        </p:txBody>
      </p:sp>
      <p:sp>
        <p:nvSpPr>
          <p:cNvPr id="647" name="Google Shape;647;p53"/>
          <p:cNvSpPr txBox="1">
            <a:spLocks noGrp="1"/>
          </p:cNvSpPr>
          <p:nvPr>
            <p:ph type="body" idx="2"/>
          </p:nvPr>
        </p:nvSpPr>
        <p:spPr>
          <a:xfrm>
            <a:off x="3356738" y="3357203"/>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Methods</a:t>
            </a:r>
            <a:endParaRPr/>
          </a:p>
          <a:p>
            <a:pPr marL="0" lvl="0" indent="0" algn="l" rtl="0">
              <a:lnSpc>
                <a:spcPct val="100000"/>
              </a:lnSpc>
              <a:spcBef>
                <a:spcPts val="600"/>
              </a:spcBef>
              <a:spcAft>
                <a:spcPts val="0"/>
              </a:spcAft>
              <a:buSzPts val="1400"/>
              <a:buNone/>
            </a:pPr>
            <a:r>
              <a:rPr lang="en-MY" sz="1100"/>
              <a:t>Virtual </a:t>
            </a:r>
            <a:endParaRPr/>
          </a:p>
          <a:p>
            <a:pPr marL="0" lvl="0" indent="0" algn="l" rtl="0">
              <a:lnSpc>
                <a:spcPct val="100000"/>
              </a:lnSpc>
              <a:spcBef>
                <a:spcPts val="600"/>
              </a:spcBef>
              <a:spcAft>
                <a:spcPts val="0"/>
              </a:spcAft>
              <a:buSzPts val="1400"/>
              <a:buNone/>
            </a:pPr>
            <a:r>
              <a:rPr lang="en-MY" sz="1100"/>
              <a:t>Static</a:t>
            </a:r>
            <a:endParaRPr/>
          </a:p>
          <a:p>
            <a:pPr marL="0" lvl="0" indent="0" algn="l" rtl="0">
              <a:lnSpc>
                <a:spcPct val="100000"/>
              </a:lnSpc>
              <a:spcBef>
                <a:spcPts val="600"/>
              </a:spcBef>
              <a:spcAft>
                <a:spcPts val="0"/>
              </a:spcAft>
              <a:buSzPts val="1400"/>
              <a:buNone/>
            </a:pPr>
            <a:r>
              <a:rPr lang="en-MY" sz="1100"/>
              <a:t>Abstract</a:t>
            </a:r>
            <a:endParaRPr/>
          </a:p>
        </p:txBody>
      </p:sp>
      <p:sp>
        <p:nvSpPr>
          <p:cNvPr id="648" name="Google Shape;648;p53"/>
          <p:cNvSpPr txBox="1">
            <a:spLocks noGrp="1"/>
          </p:cNvSpPr>
          <p:nvPr>
            <p:ph type="body" idx="3"/>
          </p:nvPr>
        </p:nvSpPr>
        <p:spPr>
          <a:xfrm>
            <a:off x="5844326" y="3132800"/>
            <a:ext cx="2366400" cy="140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1400"/>
              <a:buNone/>
            </a:pPr>
            <a:r>
              <a:rPr lang="en-MY" sz="1100" b="1"/>
              <a:t>Design principles</a:t>
            </a:r>
            <a:endParaRPr/>
          </a:p>
          <a:p>
            <a:pPr marL="0" lvl="0" indent="0" algn="l" rtl="0">
              <a:lnSpc>
                <a:spcPct val="100000"/>
              </a:lnSpc>
              <a:spcBef>
                <a:spcPts val="600"/>
              </a:spcBef>
              <a:spcAft>
                <a:spcPts val="0"/>
              </a:spcAft>
              <a:buSzPts val="1400"/>
              <a:buNone/>
            </a:pPr>
            <a:r>
              <a:rPr lang="en-MY" sz="1100"/>
              <a:t>Programming to an interface</a:t>
            </a:r>
            <a:endParaRPr/>
          </a:p>
          <a:p>
            <a:pPr marL="0" lvl="0" indent="0" algn="l" rtl="0">
              <a:lnSpc>
                <a:spcPct val="100000"/>
              </a:lnSpc>
              <a:spcBef>
                <a:spcPts val="600"/>
              </a:spcBef>
              <a:spcAft>
                <a:spcPts val="0"/>
              </a:spcAft>
              <a:buSzPts val="1400"/>
              <a:buNone/>
            </a:pPr>
            <a:r>
              <a:rPr lang="en-MY" sz="1100">
                <a:solidFill>
                  <a:schemeClr val="dk1"/>
                </a:solidFill>
                <a:latin typeface="Open Sans"/>
                <a:ea typeface="Open Sans"/>
                <a:cs typeface="Open Sans"/>
                <a:sym typeface="Open Sans"/>
              </a:rPr>
              <a:t>Favour composition over inheritance</a:t>
            </a:r>
            <a:endParaRPr/>
          </a:p>
          <a:p>
            <a:pPr marL="0" lvl="0" indent="0" algn="l" rtl="0">
              <a:lnSpc>
                <a:spcPct val="100000"/>
              </a:lnSpc>
              <a:spcBef>
                <a:spcPts val="600"/>
              </a:spcBef>
              <a:spcAft>
                <a:spcPts val="0"/>
              </a:spcAft>
              <a:buSzPts val="1400"/>
              <a:buNone/>
            </a:pPr>
            <a:r>
              <a:rPr lang="en-MY" sz="1100" b="0" i="0" u="none" strike="noStrike" cap="none">
                <a:solidFill>
                  <a:schemeClr val="dk1"/>
                </a:solidFill>
                <a:latin typeface="Open Sans"/>
                <a:ea typeface="Open Sans"/>
                <a:cs typeface="Open Sans"/>
                <a:sym typeface="Open Sans"/>
              </a:rPr>
              <a:t>Encapsulate what varies</a:t>
            </a:r>
            <a:endParaRPr sz="1100"/>
          </a:p>
        </p:txBody>
      </p:sp>
      <p:grpSp>
        <p:nvGrpSpPr>
          <p:cNvPr id="649" name="Google Shape;649;p53"/>
          <p:cNvGrpSpPr/>
          <p:nvPr/>
        </p:nvGrpSpPr>
        <p:grpSpPr>
          <a:xfrm>
            <a:off x="7261098" y="711638"/>
            <a:ext cx="1158551" cy="732293"/>
            <a:chOff x="3241525" y="3039450"/>
            <a:chExt cx="494600" cy="312625"/>
          </a:xfrm>
        </p:grpSpPr>
        <p:sp>
          <p:nvSpPr>
            <p:cNvPr id="650" name="Google Shape;650;p53"/>
            <p:cNvSpPr/>
            <p:nvPr/>
          </p:nvSpPr>
          <p:spPr>
            <a:xfrm>
              <a:off x="3241525" y="3039450"/>
              <a:ext cx="494600" cy="312625"/>
            </a:xfrm>
            <a:custGeom>
              <a:avLst/>
              <a:gdLst/>
              <a:ahLst/>
              <a:cxnLst/>
              <a:rect l="l" t="t" r="r" b="b"/>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53"/>
            <p:cNvSpPr/>
            <p:nvPr/>
          </p:nvSpPr>
          <p:spPr>
            <a:xfrm>
              <a:off x="3384400" y="3091350"/>
              <a:ext cx="208850" cy="208825"/>
            </a:xfrm>
            <a:custGeom>
              <a:avLst/>
              <a:gdLst/>
              <a:ahLst/>
              <a:cxnLst/>
              <a:rect l="l" t="t" r="r" b="b"/>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solidFill>
              <a:srgbClr val="00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52" name="Google Shape;652;p53"/>
          <p:cNvSpPr txBox="1">
            <a:spLocks noGrp="1"/>
          </p:cNvSpPr>
          <p:nvPr>
            <p:ph type="sldNum" idx="12"/>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MY" sz="1400" b="0" i="0" u="none" strike="noStrike" cap="none">
                <a:solidFill>
                  <a:srgbClr val="000000"/>
                </a:solidFill>
                <a:latin typeface="Arial"/>
                <a:ea typeface="Arial"/>
                <a:cs typeface="Arial"/>
                <a:sym typeface="Arial"/>
              </a:rPr>
              <a:t>43</a:t>
            </a:fld>
            <a:endParaRPr sz="1400" b="0" i="0" u="none" strike="noStrike" cap="none">
              <a:solidFill>
                <a:srgbClr val="000000"/>
              </a:solidFill>
              <a:latin typeface="Arial"/>
              <a:ea typeface="Arial"/>
              <a:cs typeface="Arial"/>
              <a:sym typeface="Arial"/>
            </a:endParaRPr>
          </a:p>
        </p:txBody>
      </p:sp>
      <p:sp>
        <p:nvSpPr>
          <p:cNvPr id="653" name="Google Shape;653;p53"/>
          <p:cNvSpPr txBox="1"/>
          <p:nvPr/>
        </p:nvSpPr>
        <p:spPr>
          <a:xfrm>
            <a:off x="5844351" y="1725788"/>
            <a:ext cx="2366400" cy="132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dk1"/>
              </a:buClr>
              <a:buSzPts val="1400"/>
              <a:buFont typeface="Open Sans"/>
              <a:buNone/>
            </a:pPr>
            <a:r>
              <a:rPr lang="en-MY" sz="1100" b="1" i="0" u="none" strike="noStrike" cap="none">
                <a:solidFill>
                  <a:schemeClr val="dk1"/>
                </a:solidFill>
                <a:latin typeface="Open Sans"/>
                <a:ea typeface="Open Sans"/>
                <a:cs typeface="Open Sans"/>
                <a:sym typeface="Open Sans"/>
              </a:rPr>
              <a:t>Composition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1"/>
              </a:buClr>
              <a:buSzPts val="1400"/>
              <a:buFont typeface="Open Sans"/>
              <a:buNone/>
            </a:pPr>
            <a:r>
              <a:rPr lang="en-MY" sz="1100" b="0" i="0" u="none" strike="noStrike" cap="none">
                <a:solidFill>
                  <a:schemeClr val="dk1"/>
                </a:solidFill>
                <a:latin typeface="Open Sans"/>
                <a:ea typeface="Open Sans"/>
                <a:cs typeface="Open Sans"/>
                <a:sym typeface="Open Sans"/>
              </a:rPr>
              <a:t>A composition is a specialised form of aggregation having a whole-part relationship, where the part has to exist within the whole. </a:t>
            </a:r>
            <a:endParaRPr/>
          </a:p>
        </p:txBody>
      </p:sp>
    </p:spTree>
  </p:cSld>
  <p:clrMapOvr>
    <a:masterClrMapping/>
  </p:clrMapOvr>
</p:sld>
</file>

<file path=ppt/theme/theme1.xml><?xml version="1.0" encoding="utf-8"?>
<a:theme xmlns:a="http://schemas.openxmlformats.org/drawingml/2006/main" name="Jacquenett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8C45AB2CC748408D103D542A480112" ma:contentTypeVersion="14" ma:contentTypeDescription="Create a new document." ma:contentTypeScope="" ma:versionID="0f01bc86d8bd239ffc24af3da8955a3e">
  <xsd:schema xmlns:xsd="http://www.w3.org/2001/XMLSchema" xmlns:xs="http://www.w3.org/2001/XMLSchema" xmlns:p="http://schemas.microsoft.com/office/2006/metadata/properties" xmlns:ns3="2a634c92-c62c-44bb-95c3-c2e370538b6b" xmlns:ns4="9404d61b-d944-4114-bbb3-c2e4644e50ab" targetNamespace="http://schemas.microsoft.com/office/2006/metadata/properties" ma:root="true" ma:fieldsID="50cdaa538a5da729bfc1869c13807751" ns3:_="" ns4:_="">
    <xsd:import namespace="2a634c92-c62c-44bb-95c3-c2e370538b6b"/>
    <xsd:import namespace="9404d61b-d944-4114-bbb3-c2e4644e50a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634c92-c62c-44bb-95c3-c2e370538b6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04d61b-d944-4114-bbb3-c2e4644e50a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MediaServic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197ED9B-4196-49B0-B33B-E4F593A237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634c92-c62c-44bb-95c3-c2e370538b6b"/>
    <ds:schemaRef ds:uri="9404d61b-d944-4114-bbb3-c2e4644e50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69E2D15-4938-41F4-B5F9-31B1C040EE18}">
  <ds:schemaRefs>
    <ds:schemaRef ds:uri="http://schemas.microsoft.com/sharepoint/v3/contenttype/forms"/>
  </ds:schemaRefs>
</ds:datastoreItem>
</file>

<file path=customXml/itemProps3.xml><?xml version="1.0" encoding="utf-8"?>
<ds:datastoreItem xmlns:ds="http://schemas.openxmlformats.org/officeDocument/2006/customXml" ds:itemID="{404E5BD0-714B-4FC9-AADB-615740D0A4F8}">
  <ds:schemaRefs>
    <ds:schemaRef ds:uri="http://purl.org/dc/terms/"/>
    <ds:schemaRef ds:uri="http://schemas.openxmlformats.org/package/2006/metadata/core-properties"/>
    <ds:schemaRef ds:uri="http://schemas.microsoft.com/office/2006/documentManagement/types"/>
    <ds:schemaRef ds:uri="2a634c92-c62c-44bb-95c3-c2e370538b6b"/>
    <ds:schemaRef ds:uri="http://purl.org/dc/elements/1.1/"/>
    <ds:schemaRef ds:uri="http://schemas.microsoft.com/office/2006/metadata/properties"/>
    <ds:schemaRef ds:uri="http://schemas.microsoft.com/office/infopath/2007/PartnerControls"/>
    <ds:schemaRef ds:uri="9404d61b-d944-4114-bbb3-c2e4644e50a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2747</Words>
  <Application>Microsoft Office PowerPoint</Application>
  <PresentationFormat>On-screen Show (16:9)</PresentationFormat>
  <Paragraphs>397</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Work Sans</vt:lpstr>
      <vt:lpstr>Arial</vt:lpstr>
      <vt:lpstr>Open Sans</vt:lpstr>
      <vt:lpstr>Jacquenetta template</vt:lpstr>
      <vt:lpstr>Object-oriented techniques</vt:lpstr>
      <vt:lpstr>Lesson Objectives</vt:lpstr>
      <vt:lpstr>Content</vt:lpstr>
      <vt:lpstr>Introduction</vt:lpstr>
      <vt:lpstr>Class and Objects</vt:lpstr>
      <vt:lpstr>Class and Objects</vt:lpstr>
      <vt:lpstr>Class and Objects</vt:lpstr>
      <vt:lpstr>Object-oriented programming</vt:lpstr>
      <vt:lpstr>Features of object-oriented programming</vt:lpstr>
      <vt:lpstr>Abstraction</vt:lpstr>
      <vt:lpstr>Abstraction</vt:lpstr>
      <vt:lpstr>Inheritance</vt:lpstr>
      <vt:lpstr>Inheritance</vt:lpstr>
      <vt:lpstr>Inheritance</vt:lpstr>
      <vt:lpstr>Polymorphism</vt:lpstr>
      <vt:lpstr>Polymorphism</vt:lpstr>
      <vt:lpstr>Polymorphism</vt:lpstr>
      <vt:lpstr>Encapsulation</vt:lpstr>
      <vt:lpstr>Example of a library system</vt:lpstr>
      <vt:lpstr>Example of a library system</vt:lpstr>
      <vt:lpstr>Class definition</vt:lpstr>
      <vt:lpstr>Constructor</vt:lpstr>
      <vt:lpstr>get and set methods</vt:lpstr>
      <vt:lpstr>Inheritance</vt:lpstr>
      <vt:lpstr>Inheritance</vt:lpstr>
      <vt:lpstr>Inheritance: Example</vt:lpstr>
      <vt:lpstr>Inheritance: Example</vt:lpstr>
      <vt:lpstr>Polymorphism</vt:lpstr>
      <vt:lpstr>Association</vt:lpstr>
      <vt:lpstr>Aggregation</vt:lpstr>
      <vt:lpstr>Composition</vt:lpstr>
      <vt:lpstr>Types of access modifiers</vt:lpstr>
      <vt:lpstr>Types of access modifiers</vt:lpstr>
      <vt:lpstr>Methods</vt:lpstr>
      <vt:lpstr>Methods</vt:lpstr>
      <vt:lpstr>Design principles</vt:lpstr>
      <vt:lpstr>Programming to an interface</vt:lpstr>
      <vt:lpstr>Programming to an interface</vt:lpstr>
      <vt:lpstr>Design principles</vt:lpstr>
      <vt:lpstr>Advantages of object-oriented programming </vt:lpstr>
      <vt:lpstr>Advantages of object-oriented programming </vt:lpstr>
      <vt:lpstr>Let’s review some concepts</vt:lpstr>
      <vt:lpstr>Let’s review some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techniques</dc:title>
  <dc:creator>Abdalla, Abdulkadir</dc:creator>
  <cp:lastModifiedBy>Abdalla, Abdulkadir</cp:lastModifiedBy>
  <cp:revision>2</cp:revision>
  <dcterms:modified xsi:type="dcterms:W3CDTF">2022-02-24T16:01:45Z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0x0101003C8C45AB2CC748408D103D542A480112</vt:lpwstr>
  </property>
</Properties>
</file>